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45" r:id="rId2"/>
    <p:sldId id="278" r:id="rId3"/>
    <p:sldId id="342" r:id="rId4"/>
    <p:sldId id="337" r:id="rId5"/>
    <p:sldId id="347" r:id="rId6"/>
    <p:sldId id="346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56D"/>
    <a:srgbClr val="1C4E6E"/>
    <a:srgbClr val="A2B7CE"/>
    <a:srgbClr val="325C82"/>
    <a:srgbClr val="7A0000"/>
    <a:srgbClr val="FFFF00"/>
    <a:srgbClr val="ECECEC"/>
    <a:srgbClr val="789CA4"/>
    <a:srgbClr val="4E668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0" autoAdjust="0"/>
    <p:restoredTop sz="94719"/>
  </p:normalViewPr>
  <p:slideViewPr>
    <p:cSldViewPr snapToGrid="0">
      <p:cViewPr varScale="1">
        <p:scale>
          <a:sx n="152" d="100"/>
          <a:sy n="152" d="100"/>
        </p:scale>
        <p:origin x="12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3081E-070E-498F-8628-71D75274AD45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3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1796E6B-627E-1AF7-5D97-7C0296FE5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55" r="19855"/>
          <a:stretch/>
        </p:blipFill>
        <p:spPr>
          <a:xfrm>
            <a:off x="6478997" y="823215"/>
            <a:ext cx="5584474" cy="5211570"/>
          </a:xfrm>
          <a:prstGeom prst="rect">
            <a:avLst/>
          </a:prstGeom>
        </p:spPr>
      </p:pic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565817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柳營大面寬丁種建築用地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1" y="3114108"/>
            <a:ext cx="41065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2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溪北樞紐・萬坪規模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1" y="5307813"/>
            <a:ext cx="2732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楊紘珉 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0905-858-141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561532E-B84E-0ACB-7285-C87D42BB2BDE}"/>
              </a:ext>
            </a:extLst>
          </p:cNvPr>
          <p:cNvSpPr txBox="1"/>
          <p:nvPr/>
        </p:nvSpPr>
        <p:spPr>
          <a:xfrm>
            <a:off x="437821" y="3774538"/>
            <a:ext cx="58293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94A3B8"/>
                </a:solidFill>
                <a:latin typeface="Noto Sans TC"/>
              </a:rPr>
              <a:t>臨外環主幹道</a:t>
            </a:r>
            <a:r>
              <a:rPr sz="1650" b="0" i="0" u="none" dirty="0">
                <a:solidFill>
                  <a:srgbClr val="94A3B8"/>
                </a:solidFill>
                <a:latin typeface="Noto Sans TC"/>
              </a:rPr>
              <a:t> × </a:t>
            </a:r>
            <a:r>
              <a:rPr sz="1650" b="0" i="0" u="none" dirty="0" err="1">
                <a:solidFill>
                  <a:srgbClr val="94A3B8"/>
                </a:solidFill>
                <a:latin typeface="Noto Sans TC"/>
              </a:rPr>
              <a:t>近</a:t>
            </a:r>
            <a:r>
              <a:rPr sz="1650" b="0" i="0" u="none" dirty="0">
                <a:solidFill>
                  <a:srgbClr val="94A3B8"/>
                </a:solidFill>
                <a:latin typeface="Noto Sans TC"/>
              </a:rPr>
              <a:t> 6,000 </a:t>
            </a:r>
            <a:r>
              <a:rPr sz="1650" b="0" i="0" u="none" dirty="0" err="1">
                <a:solidFill>
                  <a:srgbClr val="94A3B8"/>
                </a:solidFill>
                <a:latin typeface="Noto Sans TC"/>
              </a:rPr>
              <a:t>坪大基地</a:t>
            </a:r>
            <a:r>
              <a:rPr sz="1650" b="0" i="0" u="none" dirty="0">
                <a:solidFill>
                  <a:srgbClr val="94A3B8"/>
                </a:solidFill>
                <a:latin typeface="Noto Sans TC"/>
              </a:rPr>
              <a:t> × </a:t>
            </a:r>
            <a:r>
              <a:rPr sz="1650" b="0" i="0" u="none" dirty="0" err="1">
                <a:solidFill>
                  <a:srgbClr val="94A3B8"/>
                </a:solidFill>
                <a:latin typeface="Noto Sans TC"/>
              </a:rPr>
              <a:t>企業總部與物流製造首選</a:t>
            </a:r>
            <a:endParaRPr sz="1650" b="0" i="0" u="none" dirty="0">
              <a:solidFill>
                <a:srgbClr val="94A3B8"/>
              </a:solidFill>
              <a:latin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BB0C1D-7E9D-4862-A24F-3230B8B25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9449" y="1435389"/>
            <a:ext cx="4766804" cy="2681982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AE843B9-0341-C509-70D4-E3B981E737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37" t="28996" r="7378" b="7412"/>
          <a:stretch/>
        </p:blipFill>
        <p:spPr>
          <a:xfrm>
            <a:off x="7024190" y="575201"/>
            <a:ext cx="5377414" cy="5707597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69E5AF-8308-01E6-099D-4138CB2A0765}"/>
              </a:ext>
            </a:extLst>
          </p:cNvPr>
          <p:cNvSpPr/>
          <p:nvPr/>
        </p:nvSpPr>
        <p:spPr>
          <a:xfrm>
            <a:off x="5138307" y="2607733"/>
            <a:ext cx="168647" cy="168647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0" y="4409571"/>
            <a:ext cx="5377413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19,563.72 m</a:t>
            </a:r>
            <a:r>
              <a:rPr lang="en-US" altLang="zh-TW" sz="1600" b="1" baseline="30000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5,918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使用分區：特定農業區 丁種建築用地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建蔽 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容積率：建蔽率 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70% 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／ 容積率 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300%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106,524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備註：基地內含部分水利用地</a:t>
            </a: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640D6574-0C56-1B22-F877-6C0FAB47B90B}"/>
              </a:ext>
            </a:extLst>
          </p:cNvPr>
          <p:cNvSpPr/>
          <p:nvPr/>
        </p:nvSpPr>
        <p:spPr>
          <a:xfrm flipV="1">
            <a:off x="5322046" y="2792754"/>
            <a:ext cx="4657209" cy="68580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5322046" y="2514904"/>
            <a:ext cx="2350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柳營區外環段</a:t>
            </a: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AACF0FD-06AA-4055-1DF3-2D65F7931EE6}"/>
              </a:ext>
            </a:extLst>
          </p:cNvPr>
          <p:cNvCxnSpPr>
            <a:cxnSpLocks/>
          </p:cNvCxnSpPr>
          <p:nvPr/>
        </p:nvCxnSpPr>
        <p:spPr>
          <a:xfrm flipH="1">
            <a:off x="7812465" y="2147777"/>
            <a:ext cx="427768" cy="90376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63452CC-9BF4-9BF4-9881-E47AE58F9D52}"/>
              </a:ext>
            </a:extLst>
          </p:cNvPr>
          <p:cNvCxnSpPr>
            <a:cxnSpLocks/>
          </p:cNvCxnSpPr>
          <p:nvPr/>
        </p:nvCxnSpPr>
        <p:spPr>
          <a:xfrm>
            <a:off x="8240233" y="2147777"/>
            <a:ext cx="3306725" cy="27644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82E42BA-1612-9946-4937-094B1D53F670}"/>
              </a:ext>
            </a:extLst>
          </p:cNvPr>
          <p:cNvCxnSpPr>
            <a:cxnSpLocks/>
          </p:cNvCxnSpPr>
          <p:nvPr/>
        </p:nvCxnSpPr>
        <p:spPr>
          <a:xfrm flipV="1">
            <a:off x="11389449" y="2415827"/>
            <a:ext cx="157509" cy="146505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F297C645-195B-A9ED-0D10-74066CA09DF7}"/>
              </a:ext>
            </a:extLst>
          </p:cNvPr>
          <p:cNvCxnSpPr>
            <a:cxnSpLocks/>
          </p:cNvCxnSpPr>
          <p:nvPr/>
        </p:nvCxnSpPr>
        <p:spPr>
          <a:xfrm>
            <a:off x="9635362" y="3607611"/>
            <a:ext cx="1798882" cy="2417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B3C9C194-3A16-2118-1A8C-9D894ED5DE30}"/>
              </a:ext>
            </a:extLst>
          </p:cNvPr>
          <p:cNvCxnSpPr>
            <a:cxnSpLocks/>
          </p:cNvCxnSpPr>
          <p:nvPr/>
        </p:nvCxnSpPr>
        <p:spPr>
          <a:xfrm>
            <a:off x="7814083" y="3051544"/>
            <a:ext cx="587965" cy="2522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382D71DF-16FE-BDE0-F792-37134A4CAC58}"/>
              </a:ext>
            </a:extLst>
          </p:cNvPr>
          <p:cNvCxnSpPr>
            <a:cxnSpLocks/>
          </p:cNvCxnSpPr>
          <p:nvPr/>
        </p:nvCxnSpPr>
        <p:spPr>
          <a:xfrm>
            <a:off x="8402048" y="3301913"/>
            <a:ext cx="593096" cy="2043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34861E02-FBF8-AE2F-3B51-40CF67B0CFF3}"/>
              </a:ext>
            </a:extLst>
          </p:cNvPr>
          <p:cNvCxnSpPr>
            <a:cxnSpLocks/>
          </p:cNvCxnSpPr>
          <p:nvPr/>
        </p:nvCxnSpPr>
        <p:spPr>
          <a:xfrm>
            <a:off x="8995144" y="3506311"/>
            <a:ext cx="640218" cy="1013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DD24027-CB3F-1E47-AF04-E40BC6B0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03" y="1078823"/>
            <a:ext cx="11081050" cy="562532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275961A-6213-6A0D-9905-04614FED8F38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12F8076-5C66-AB61-D44B-26FD0578F916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13217EEA-FD4B-46E1-C8B1-95070758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AC816D-85DD-ACE0-36C9-3D6E67500265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4E0C9415-13AF-AD97-7F5F-891A74E7A6A4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8BC63F7-C60B-EF5C-432A-60576FA660EB}"/>
              </a:ext>
            </a:extLst>
          </p:cNvPr>
          <p:cNvSpPr/>
          <p:nvPr/>
        </p:nvSpPr>
        <p:spPr>
          <a:xfrm>
            <a:off x="5186138" y="2426546"/>
            <a:ext cx="962281" cy="36933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7A1E4BE2-14AD-E940-D3D5-05261FF1E4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729" y="2886070"/>
            <a:ext cx="537100" cy="940155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D4D42CD6-507D-FF8A-89B6-647B9B3D3B87}"/>
              </a:ext>
            </a:extLst>
          </p:cNvPr>
          <p:cNvSpPr txBox="1"/>
          <p:nvPr/>
        </p:nvSpPr>
        <p:spPr>
          <a:xfrm>
            <a:off x="10705581" y="4213471"/>
            <a:ext cx="426708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國道</a:t>
            </a:r>
            <a:r>
              <a:rPr lang="en-US" altLang="zh-TW" dirty="0"/>
              <a:t>3</a:t>
            </a:r>
            <a:r>
              <a:rPr lang="zh-TW" altLang="en-US" dirty="0"/>
              <a:t>號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AC6D786-8D0B-E973-6E9B-696E0249B76E}"/>
              </a:ext>
            </a:extLst>
          </p:cNvPr>
          <p:cNvSpPr txBox="1"/>
          <p:nvPr/>
        </p:nvSpPr>
        <p:spPr>
          <a:xfrm>
            <a:off x="8683496" y="1917441"/>
            <a:ext cx="171863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0000"/>
                </a:solidFill>
                <a:effectLst>
                  <a:glow rad="139700">
                    <a:schemeClr val="bg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環保科技園區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ABC36F8-1133-11D8-6556-34AE6F1CA21A}"/>
              </a:ext>
            </a:extLst>
          </p:cNvPr>
          <p:cNvSpPr txBox="1"/>
          <p:nvPr/>
        </p:nvSpPr>
        <p:spPr>
          <a:xfrm rot="1215930">
            <a:off x="1084300" y="3748012"/>
            <a:ext cx="426708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國道</a:t>
            </a:r>
            <a:r>
              <a:rPr lang="en-US" altLang="zh-TW" dirty="0"/>
              <a:t>1</a:t>
            </a:r>
            <a:r>
              <a:rPr lang="zh-TW" altLang="en-US" dirty="0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58333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87135B-B3E7-E7F7-FCD3-596A396DEB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390" r="10077"/>
          <a:stretch/>
        </p:blipFill>
        <p:spPr>
          <a:xfrm>
            <a:off x="467297" y="1168318"/>
            <a:ext cx="7177512" cy="520850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C5F335D-9DBD-2BB7-EBF6-4AD45DA5E67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1481"/>
          <a:stretch/>
        </p:blipFill>
        <p:spPr>
          <a:xfrm>
            <a:off x="7958667" y="1168318"/>
            <a:ext cx="3981593" cy="253074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EC11071-79A5-6111-D0F2-886AAC74D92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1481"/>
          <a:stretch/>
        </p:blipFill>
        <p:spPr>
          <a:xfrm>
            <a:off x="7958667" y="3810900"/>
            <a:ext cx="3981593" cy="2530742"/>
          </a:xfrm>
          <a:prstGeom prst="rect">
            <a:avLst/>
          </a:prstGeom>
        </p:spPr>
      </p:pic>
      <p:sp>
        <p:nvSpPr>
          <p:cNvPr id="3" name="不規則四邊形 2">
            <a:extLst>
              <a:ext uri="{FF2B5EF4-FFF2-40B4-BE49-F238E27FC236}">
                <a16:creationId xmlns:a16="http://schemas.microsoft.com/office/drawing/2014/main" id="{0D2A496B-0E72-FB18-2DC2-BEE272887A10}"/>
              </a:ext>
            </a:extLst>
          </p:cNvPr>
          <p:cNvSpPr/>
          <p:nvPr/>
        </p:nvSpPr>
        <p:spPr>
          <a:xfrm>
            <a:off x="1671347" y="2446858"/>
            <a:ext cx="5188688" cy="2514506"/>
          </a:xfrm>
          <a:prstGeom prst="trapezoid">
            <a:avLst>
              <a:gd name="adj" fmla="val 7272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15409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7347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建築開發效益評估 </a:t>
            </a:r>
            <a:r>
              <a:rPr lang="en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Development Potential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9" name="Picture 2" descr="image.png">
            <a:extLst>
              <a:ext uri="{FF2B5EF4-FFF2-40B4-BE49-F238E27FC236}">
                <a16:creationId xmlns:a16="http://schemas.microsoft.com/office/drawing/2014/main" id="{050DCBB0-7750-F112-86A8-6D9550330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017514"/>
            <a:ext cx="5348287" cy="3546871"/>
          </a:xfrm>
          <a:prstGeom prst="rect">
            <a:avLst/>
          </a:prstGeom>
        </p:spPr>
      </p:pic>
      <p:pic>
        <p:nvPicPr>
          <p:cNvPr id="40" name="Picture 3" descr="image.png">
            <a:extLst>
              <a:ext uri="{FF2B5EF4-FFF2-40B4-BE49-F238E27FC236}">
                <a16:creationId xmlns:a16="http://schemas.microsoft.com/office/drawing/2014/main" id="{BE0E217C-8727-E032-0700-AF765A2F3C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017514"/>
            <a:ext cx="5348287" cy="1678185"/>
          </a:xfrm>
          <a:prstGeom prst="rect">
            <a:avLst/>
          </a:prstGeom>
        </p:spPr>
      </p:pic>
      <p:pic>
        <p:nvPicPr>
          <p:cNvPr id="41" name="Picture 4" descr="image.png">
            <a:extLst>
              <a:ext uri="{FF2B5EF4-FFF2-40B4-BE49-F238E27FC236}">
                <a16:creationId xmlns:a16="http://schemas.microsoft.com/office/drawing/2014/main" id="{72D21953-F30C-B6EB-1EA5-BB0B4FD73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86200"/>
            <a:ext cx="5348287" cy="1678185"/>
          </a:xfrm>
          <a:prstGeom prst="rect">
            <a:avLst/>
          </a:prstGeom>
        </p:spPr>
      </p:pic>
      <p:sp>
        <p:nvSpPr>
          <p:cNvPr id="42" name="TextBox 5">
            <a:extLst>
              <a:ext uri="{FF2B5EF4-FFF2-40B4-BE49-F238E27FC236}">
                <a16:creationId xmlns:a16="http://schemas.microsoft.com/office/drawing/2014/main" id="{9110B902-B465-C49D-DAC6-7928A1451214}"/>
              </a:ext>
            </a:extLst>
          </p:cNvPr>
          <p:cNvSpPr txBox="1"/>
          <p:nvPr/>
        </p:nvSpPr>
        <p:spPr>
          <a:xfrm>
            <a:off x="6605587" y="2612826"/>
            <a:ext cx="4895611" cy="307777"/>
          </a:xfrm>
          <a:prstGeom prst="rect">
            <a:avLst/>
          </a:prstGeom>
          <a:noFill/>
        </p:spPr>
        <p:txBody>
          <a:bodyPr wrap="square" lIns="177849" tIns="0" rIns="0" bIns="0" anchor="t">
            <a:spAutoFit/>
          </a:bodyPr>
          <a:lstStyle/>
          <a:p>
            <a:pPr algn="l"/>
            <a:r>
              <a:rPr sz="2000" b="1" i="0" u="none">
                <a:latin typeface="Noto Sans TC"/>
              </a:rPr>
              <a:t>多元開發方向建議</a:t>
            </a:r>
          </a:p>
        </p:txBody>
      </p:sp>
      <p:sp>
        <p:nvSpPr>
          <p:cNvPr id="43" name="TextBox 6">
            <a:extLst>
              <a:ext uri="{FF2B5EF4-FFF2-40B4-BE49-F238E27FC236}">
                <a16:creationId xmlns:a16="http://schemas.microsoft.com/office/drawing/2014/main" id="{E99DAE70-0BEF-78CB-125F-E9E23DAE6644}"/>
              </a:ext>
            </a:extLst>
          </p:cNvPr>
          <p:cNvSpPr txBox="1"/>
          <p:nvPr/>
        </p:nvSpPr>
        <p:spPr>
          <a:xfrm>
            <a:off x="876300" y="2312789"/>
            <a:ext cx="4757737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sz="4000" b="0" i="0" u="none">
                <a:latin typeface="Montserrat Black"/>
              </a:rPr>
              <a:t>4,142 坪</a:t>
            </a:r>
          </a:p>
        </p:txBody>
      </p:sp>
      <p:sp>
        <p:nvSpPr>
          <p:cNvPr id="44" name="TextBox 7">
            <a:extLst>
              <a:ext uri="{FF2B5EF4-FFF2-40B4-BE49-F238E27FC236}">
                <a16:creationId xmlns:a16="http://schemas.microsoft.com/office/drawing/2014/main" id="{265FFC88-362B-8811-9EC3-7E3381639B5F}"/>
              </a:ext>
            </a:extLst>
          </p:cNvPr>
          <p:cNvSpPr txBox="1"/>
          <p:nvPr/>
        </p:nvSpPr>
        <p:spPr>
          <a:xfrm>
            <a:off x="876300" y="2952750"/>
            <a:ext cx="475773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latin typeface="Noto Sans TC"/>
              </a:rPr>
              <a:t>最大法定基底面積</a:t>
            </a:r>
          </a:p>
        </p:txBody>
      </p:sp>
      <p:sp>
        <p:nvSpPr>
          <p:cNvPr id="45" name="TextBox 8">
            <a:extLst>
              <a:ext uri="{FF2B5EF4-FFF2-40B4-BE49-F238E27FC236}">
                <a16:creationId xmlns:a16="http://schemas.microsoft.com/office/drawing/2014/main" id="{6D9CBBD3-B8EC-B9ED-3B30-7F1E77A9864F}"/>
              </a:ext>
            </a:extLst>
          </p:cNvPr>
          <p:cNvSpPr txBox="1"/>
          <p:nvPr/>
        </p:nvSpPr>
        <p:spPr>
          <a:xfrm>
            <a:off x="876300" y="3219450"/>
            <a:ext cx="47577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latin typeface="Noto Sans TC"/>
              </a:rPr>
              <a:t>依建蔽率 70% 計算，可規劃極大化單層廠房或物流倉庫</a:t>
            </a: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F7A4F4DC-C34E-D3A5-744E-2877DA30D914}"/>
              </a:ext>
            </a:extLst>
          </p:cNvPr>
          <p:cNvSpPr txBox="1"/>
          <p:nvPr/>
        </p:nvSpPr>
        <p:spPr>
          <a:xfrm>
            <a:off x="876300" y="4181475"/>
            <a:ext cx="4757737" cy="551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sz="4000" b="0" i="0" u="none">
                <a:latin typeface="Montserrat Black"/>
              </a:rPr>
              <a:t>17,754 坪</a:t>
            </a:r>
          </a:p>
        </p:txBody>
      </p:sp>
      <p:sp>
        <p:nvSpPr>
          <p:cNvPr id="47" name="TextBox 10">
            <a:extLst>
              <a:ext uri="{FF2B5EF4-FFF2-40B4-BE49-F238E27FC236}">
                <a16:creationId xmlns:a16="http://schemas.microsoft.com/office/drawing/2014/main" id="{055F1D69-BA0A-2D61-38A9-D9EC9D4923EF}"/>
              </a:ext>
            </a:extLst>
          </p:cNvPr>
          <p:cNvSpPr txBox="1"/>
          <p:nvPr/>
        </p:nvSpPr>
        <p:spPr>
          <a:xfrm>
            <a:off x="876300" y="4821435"/>
            <a:ext cx="4757737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u="none">
                <a:latin typeface="Noto Sans TC"/>
              </a:rPr>
              <a:t>最大法定總樓地板面積</a:t>
            </a:r>
          </a:p>
        </p:txBody>
      </p:sp>
      <p:sp>
        <p:nvSpPr>
          <p:cNvPr id="48" name="TextBox 11">
            <a:extLst>
              <a:ext uri="{FF2B5EF4-FFF2-40B4-BE49-F238E27FC236}">
                <a16:creationId xmlns:a16="http://schemas.microsoft.com/office/drawing/2014/main" id="{3DC2D373-B666-FABF-F15B-638AC4F46DA6}"/>
              </a:ext>
            </a:extLst>
          </p:cNvPr>
          <p:cNvSpPr txBox="1"/>
          <p:nvPr/>
        </p:nvSpPr>
        <p:spPr>
          <a:xfrm>
            <a:off x="876300" y="5088135"/>
            <a:ext cx="47577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latin typeface="Noto Sans TC"/>
              </a:rPr>
              <a:t>依容積率 300% 計算，最高可興建約 17,754 坪規模建築</a:t>
            </a:r>
          </a:p>
        </p:txBody>
      </p:sp>
      <p:pic>
        <p:nvPicPr>
          <p:cNvPr id="49" name="Picture 12" descr="image.png">
            <a:extLst>
              <a:ext uri="{FF2B5EF4-FFF2-40B4-BE49-F238E27FC236}">
                <a16:creationId xmlns:a16="http://schemas.microsoft.com/office/drawing/2014/main" id="{AE44C6B2-5602-3C61-CC45-58C6982B62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587" y="2650926"/>
            <a:ext cx="177849" cy="228600"/>
          </a:xfrm>
          <a:prstGeom prst="rect">
            <a:avLst/>
          </a:prstGeom>
        </p:spPr>
      </p:pic>
      <p:sp>
        <p:nvSpPr>
          <p:cNvPr id="50" name="TextBox 13">
            <a:extLst>
              <a:ext uri="{FF2B5EF4-FFF2-40B4-BE49-F238E27FC236}">
                <a16:creationId xmlns:a16="http://schemas.microsoft.com/office/drawing/2014/main" id="{3E9E596E-6AB8-8528-F5B4-2A0657238251}"/>
              </a:ext>
            </a:extLst>
          </p:cNvPr>
          <p:cNvSpPr txBox="1"/>
          <p:nvPr/>
        </p:nvSpPr>
        <p:spPr>
          <a:xfrm>
            <a:off x="6605587" y="3108126"/>
            <a:ext cx="4895611" cy="246221"/>
          </a:xfrm>
          <a:prstGeom prst="rect">
            <a:avLst/>
          </a:prstGeom>
          <a:noFill/>
        </p:spPr>
        <p:txBody>
          <a:bodyPr wrap="square" lIns="216991" tIns="0" rIns="0" bIns="0" anchor="t">
            <a:spAutoFit/>
          </a:bodyPr>
          <a:lstStyle/>
          <a:p>
            <a:pPr algn="l"/>
            <a:r>
              <a:rPr sz="1600" b="1" i="0" u="none">
                <a:latin typeface="Noto Sans TC"/>
              </a:rPr>
              <a:t>製造業企業總部 / 主廠房</a:t>
            </a:r>
          </a:p>
        </p:txBody>
      </p:sp>
      <p:sp>
        <p:nvSpPr>
          <p:cNvPr id="51" name="TextBox 14">
            <a:extLst>
              <a:ext uri="{FF2B5EF4-FFF2-40B4-BE49-F238E27FC236}">
                <a16:creationId xmlns:a16="http://schemas.microsoft.com/office/drawing/2014/main" id="{EA401BBF-6355-6FED-06FC-25080C63231C}"/>
              </a:ext>
            </a:extLst>
          </p:cNvPr>
          <p:cNvSpPr txBox="1"/>
          <p:nvPr/>
        </p:nvSpPr>
        <p:spPr>
          <a:xfrm>
            <a:off x="6605587" y="3431976"/>
            <a:ext cx="4662487" cy="47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>
                <a:latin typeface="Noto Sans TC"/>
              </a:rPr>
              <a:t>適合低污染事業、自動化生產線或精密機械組裝廠，打造一站式營運核心。</a:t>
            </a:r>
          </a:p>
        </p:txBody>
      </p:sp>
      <p:sp>
        <p:nvSpPr>
          <p:cNvPr id="52" name="TextBox 15">
            <a:extLst>
              <a:ext uri="{FF2B5EF4-FFF2-40B4-BE49-F238E27FC236}">
                <a16:creationId xmlns:a16="http://schemas.microsoft.com/office/drawing/2014/main" id="{B38AF17F-9097-10CB-B383-73E306A21E54}"/>
              </a:ext>
            </a:extLst>
          </p:cNvPr>
          <p:cNvSpPr txBox="1"/>
          <p:nvPr/>
        </p:nvSpPr>
        <p:spPr>
          <a:xfrm>
            <a:off x="6605587" y="4157662"/>
            <a:ext cx="4895611" cy="246221"/>
          </a:xfrm>
          <a:prstGeom prst="rect">
            <a:avLst/>
          </a:prstGeom>
          <a:noFill/>
        </p:spPr>
        <p:txBody>
          <a:bodyPr wrap="square" lIns="216991" tIns="0" rIns="0" bIns="0" anchor="t">
            <a:spAutoFit/>
          </a:bodyPr>
          <a:lstStyle/>
          <a:p>
            <a:pPr algn="l"/>
            <a:r>
              <a:rPr sz="1600" b="1" i="0" u="none">
                <a:latin typeface="Noto Sans TC"/>
              </a:rPr>
              <a:t>區域物流資產與倉儲中心</a:t>
            </a:r>
          </a:p>
        </p:txBody>
      </p:sp>
      <p:sp>
        <p:nvSpPr>
          <p:cNvPr id="53" name="TextBox 16">
            <a:extLst>
              <a:ext uri="{FF2B5EF4-FFF2-40B4-BE49-F238E27FC236}">
                <a16:creationId xmlns:a16="http://schemas.microsoft.com/office/drawing/2014/main" id="{ACB84B3A-6C48-1457-7E9C-89C99FED64C5}"/>
              </a:ext>
            </a:extLst>
          </p:cNvPr>
          <p:cNvSpPr txBox="1"/>
          <p:nvPr/>
        </p:nvSpPr>
        <p:spPr>
          <a:xfrm>
            <a:off x="6605587" y="4481512"/>
            <a:ext cx="4662487" cy="47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>
                <a:latin typeface="Noto Sans TC"/>
              </a:rPr>
              <a:t>超大面寬臨雙向四線幹道，便利大型重型車輛迴轉，為雲嘉南物流配送最佳樞紐。</a:t>
            </a:r>
          </a:p>
        </p:txBody>
      </p:sp>
      <p:pic>
        <p:nvPicPr>
          <p:cNvPr id="54" name="Picture 17" descr="image.png">
            <a:extLst>
              <a:ext uri="{FF2B5EF4-FFF2-40B4-BE49-F238E27FC236}">
                <a16:creationId xmlns:a16="http://schemas.microsoft.com/office/drawing/2014/main" id="{46321BC4-66C7-EF15-9618-FC28ABA6E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5587" y="3136701"/>
            <a:ext cx="140791" cy="180975"/>
          </a:xfrm>
          <a:prstGeom prst="rect">
            <a:avLst/>
          </a:prstGeom>
        </p:spPr>
      </p:pic>
      <p:pic>
        <p:nvPicPr>
          <p:cNvPr id="55" name="Picture 18" descr="image.png">
            <a:extLst>
              <a:ext uri="{FF2B5EF4-FFF2-40B4-BE49-F238E27FC236}">
                <a16:creationId xmlns:a16="http://schemas.microsoft.com/office/drawing/2014/main" id="{17909985-3541-D209-4C34-3B57AE4CAB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5587" y="4186237"/>
            <a:ext cx="140791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53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5188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核心投資亮點 </a:t>
            </a:r>
            <a:r>
              <a:rPr lang="en" altLang="zh-TW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Key Highlights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Picture 2" descr="image.png">
            <a:extLst>
              <a:ext uri="{FF2B5EF4-FFF2-40B4-BE49-F238E27FC236}">
                <a16:creationId xmlns:a16="http://schemas.microsoft.com/office/drawing/2014/main" id="{7E98FE28-F918-8EFB-B966-3B5B6F916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55651"/>
            <a:ext cx="5395912" cy="1316235"/>
          </a:xfrm>
          <a:prstGeom prst="rect">
            <a:avLst/>
          </a:prstGeom>
        </p:spPr>
      </p:pic>
      <p:pic>
        <p:nvPicPr>
          <p:cNvPr id="16" name="Picture 3" descr="image.png">
            <a:extLst>
              <a:ext uri="{FF2B5EF4-FFF2-40B4-BE49-F238E27FC236}">
                <a16:creationId xmlns:a16="http://schemas.microsoft.com/office/drawing/2014/main" id="{C441FBEF-30B0-113E-1ECE-35EB0ADC3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62" y="2355651"/>
            <a:ext cx="5395912" cy="1316235"/>
          </a:xfrm>
          <a:prstGeom prst="rect">
            <a:avLst/>
          </a:prstGeom>
        </p:spPr>
      </p:pic>
      <p:pic>
        <p:nvPicPr>
          <p:cNvPr id="17" name="Picture 4" descr="image.png">
            <a:extLst>
              <a:ext uri="{FF2B5EF4-FFF2-40B4-BE49-F238E27FC236}">
                <a16:creationId xmlns:a16="http://schemas.microsoft.com/office/drawing/2014/main" id="{181AFEC2-23EB-8DE6-DF1C-27381EC7C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910012"/>
            <a:ext cx="5395912" cy="1316235"/>
          </a:xfrm>
          <a:prstGeom prst="rect">
            <a:avLst/>
          </a:prstGeom>
        </p:spPr>
      </p:pic>
      <p:pic>
        <p:nvPicPr>
          <p:cNvPr id="18" name="Picture 5" descr="image.png">
            <a:extLst>
              <a:ext uri="{FF2B5EF4-FFF2-40B4-BE49-F238E27FC236}">
                <a16:creationId xmlns:a16="http://schemas.microsoft.com/office/drawing/2014/main" id="{8F195A3A-E891-A208-B605-69019B65C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062" y="3910012"/>
            <a:ext cx="5395912" cy="1316235"/>
          </a:xfrm>
          <a:prstGeom prst="rect">
            <a:avLst/>
          </a:prstGeom>
        </p:spPr>
      </p:pic>
      <p:pic>
        <p:nvPicPr>
          <p:cNvPr id="19" name="Picture 6" descr="image.png">
            <a:extLst>
              <a:ext uri="{FF2B5EF4-FFF2-40B4-BE49-F238E27FC236}">
                <a16:creationId xmlns:a16="http://schemas.microsoft.com/office/drawing/2014/main" id="{1AE43D46-5EFF-7589-9543-C57541BABA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2603301"/>
            <a:ext cx="533400" cy="533400"/>
          </a:xfrm>
          <a:prstGeom prst="rect">
            <a:avLst/>
          </a:prstGeom>
        </p:spPr>
      </p:pic>
      <p:pic>
        <p:nvPicPr>
          <p:cNvPr id="20" name="Picture 7" descr="image.png">
            <a:extLst>
              <a:ext uri="{FF2B5EF4-FFF2-40B4-BE49-F238E27FC236}">
                <a16:creationId xmlns:a16="http://schemas.microsoft.com/office/drawing/2014/main" id="{2050F0DC-5BE1-7AB4-5EAE-08FD04B0A7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2" y="2603301"/>
            <a:ext cx="533400" cy="533400"/>
          </a:xfrm>
          <a:prstGeom prst="rect">
            <a:avLst/>
          </a:prstGeom>
        </p:spPr>
      </p:pic>
      <p:pic>
        <p:nvPicPr>
          <p:cNvPr id="21" name="Picture 8" descr="image.png">
            <a:extLst>
              <a:ext uri="{FF2B5EF4-FFF2-40B4-BE49-F238E27FC236}">
                <a16:creationId xmlns:a16="http://schemas.microsoft.com/office/drawing/2014/main" id="{4978279B-E6E6-166A-8E41-C3BA1CF23E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675" y="4157662"/>
            <a:ext cx="533400" cy="533400"/>
          </a:xfrm>
          <a:prstGeom prst="rect">
            <a:avLst/>
          </a:prstGeom>
        </p:spPr>
      </p:pic>
      <p:pic>
        <p:nvPicPr>
          <p:cNvPr id="22" name="Picture 9" descr="image.png">
            <a:extLst>
              <a:ext uri="{FF2B5EF4-FFF2-40B4-BE49-F238E27FC236}">
                <a16:creationId xmlns:a16="http://schemas.microsoft.com/office/drawing/2014/main" id="{FB8485EE-38D1-B359-5B73-3AFAC039430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2712" y="4157662"/>
            <a:ext cx="533400" cy="533400"/>
          </a:xfrm>
          <a:prstGeom prst="rect">
            <a:avLst/>
          </a:prstGeom>
        </p:spPr>
      </p:pic>
      <p:pic>
        <p:nvPicPr>
          <p:cNvPr id="23" name="Picture 10" descr="image.png">
            <a:extLst>
              <a:ext uri="{FF2B5EF4-FFF2-40B4-BE49-F238E27FC236}">
                <a16:creationId xmlns:a16="http://schemas.microsoft.com/office/drawing/2014/main" id="{24373DA8-B950-5E06-06FB-7D9C2E2844D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375" y="2755701"/>
            <a:ext cx="177849" cy="228600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0ED9DC0D-5059-2BF3-100B-3203258A5524}"/>
              </a:ext>
            </a:extLst>
          </p:cNvPr>
          <p:cNvSpPr txBox="1"/>
          <p:nvPr/>
        </p:nvSpPr>
        <p:spPr>
          <a:xfrm>
            <a:off x="1552575" y="2603301"/>
            <a:ext cx="43855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latin typeface="Noto Sans TC"/>
              </a:rPr>
              <a:t>超大面寬臨四線道主幹道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ABB74880-6B20-730C-5998-0C7CD8CC9381}"/>
              </a:ext>
            </a:extLst>
          </p:cNvPr>
          <p:cNvSpPr txBox="1"/>
          <p:nvPr/>
        </p:nvSpPr>
        <p:spPr>
          <a:xfrm>
            <a:off x="1552575" y="2936676"/>
            <a:ext cx="4176712" cy="47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>
                <a:latin typeface="Noto Sans TC"/>
              </a:rPr>
              <a:t>位居雙向四線道外環道第一排，大型聯結車與貨櫃車進出極佳，物流出入動線流暢順暢。</a:t>
            </a:r>
          </a:p>
        </p:txBody>
      </p:sp>
      <p:pic>
        <p:nvPicPr>
          <p:cNvPr id="29" name="Picture 13" descr="image.png">
            <a:extLst>
              <a:ext uri="{FF2B5EF4-FFF2-40B4-BE49-F238E27FC236}">
                <a16:creationId xmlns:a16="http://schemas.microsoft.com/office/drawing/2014/main" id="{BC58AEE5-BAD3-3038-A958-029D79F6CFD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40413" y="2755701"/>
            <a:ext cx="177849" cy="228600"/>
          </a:xfrm>
          <a:prstGeom prst="rect">
            <a:avLst/>
          </a:prstGeom>
        </p:spPr>
      </p:pic>
      <p:sp>
        <p:nvSpPr>
          <p:cNvPr id="31" name="TextBox 14">
            <a:extLst>
              <a:ext uri="{FF2B5EF4-FFF2-40B4-BE49-F238E27FC236}">
                <a16:creationId xmlns:a16="http://schemas.microsoft.com/office/drawing/2014/main" id="{C1AB4F0A-4F86-ED45-8B1B-18E304989334}"/>
              </a:ext>
            </a:extLst>
          </p:cNvPr>
          <p:cNvSpPr txBox="1"/>
          <p:nvPr/>
        </p:nvSpPr>
        <p:spPr>
          <a:xfrm>
            <a:off x="7186612" y="2603301"/>
            <a:ext cx="43855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latin typeface="Noto Sans TC"/>
              </a:rPr>
              <a:t>近6,000坪稀有大規模丁建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885692F7-F961-5E69-24EF-915AC3D774B9}"/>
              </a:ext>
            </a:extLst>
          </p:cNvPr>
          <p:cNvSpPr txBox="1"/>
          <p:nvPr/>
        </p:nvSpPr>
        <p:spPr>
          <a:xfrm>
            <a:off x="7186612" y="2936676"/>
            <a:ext cx="4176712" cy="47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>
                <a:latin typeface="Noto Sans TC"/>
              </a:rPr>
              <a:t>溪北少見大坪數合法工廠用地，極有利於企業規劃大面積廠房、高倉儲空間或分期擴建。</a:t>
            </a:r>
          </a:p>
        </p:txBody>
      </p:sp>
      <p:pic>
        <p:nvPicPr>
          <p:cNvPr id="33" name="Picture 16" descr="image.png">
            <a:extLst>
              <a:ext uri="{FF2B5EF4-FFF2-40B4-BE49-F238E27FC236}">
                <a16:creationId xmlns:a16="http://schemas.microsoft.com/office/drawing/2014/main" id="{CE44360D-433C-3B90-102C-B8F328729F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6375" y="4310062"/>
            <a:ext cx="177849" cy="228600"/>
          </a:xfrm>
          <a:prstGeom prst="rect">
            <a:avLst/>
          </a:prstGeom>
        </p:spPr>
      </p:pic>
      <p:sp>
        <p:nvSpPr>
          <p:cNvPr id="34" name="TextBox 17">
            <a:extLst>
              <a:ext uri="{FF2B5EF4-FFF2-40B4-BE49-F238E27FC236}">
                <a16:creationId xmlns:a16="http://schemas.microsoft.com/office/drawing/2014/main" id="{A3710C9D-7BE5-917E-1AFE-D8A8479E8EA6}"/>
              </a:ext>
            </a:extLst>
          </p:cNvPr>
          <p:cNvSpPr txBox="1"/>
          <p:nvPr/>
        </p:nvSpPr>
        <p:spPr>
          <a:xfrm>
            <a:off x="1552575" y="4157662"/>
            <a:ext cx="43855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latin typeface="Noto Sans TC"/>
              </a:rPr>
              <a:t>周邊產業聚落成型</a:t>
            </a:r>
          </a:p>
        </p:txBody>
      </p:sp>
      <p:sp>
        <p:nvSpPr>
          <p:cNvPr id="35" name="TextBox 18">
            <a:extLst>
              <a:ext uri="{FF2B5EF4-FFF2-40B4-BE49-F238E27FC236}">
                <a16:creationId xmlns:a16="http://schemas.microsoft.com/office/drawing/2014/main" id="{EB5ADE2E-27D7-C586-CB95-A1BF09CD0C4C}"/>
              </a:ext>
            </a:extLst>
          </p:cNvPr>
          <p:cNvSpPr txBox="1"/>
          <p:nvPr/>
        </p:nvSpPr>
        <p:spPr>
          <a:xfrm>
            <a:off x="1552575" y="4491037"/>
            <a:ext cx="4176712" cy="47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>
                <a:latin typeface="Noto Sans TC"/>
              </a:rPr>
              <a:t>緊鄰既有營運廠房與工業區，周邊基礎設施與高壓電線到位，產業鏈結度與同群效應極高。</a:t>
            </a:r>
          </a:p>
        </p:txBody>
      </p:sp>
      <p:pic>
        <p:nvPicPr>
          <p:cNvPr id="36" name="Picture 19" descr="image.png">
            <a:extLst>
              <a:ext uri="{FF2B5EF4-FFF2-40B4-BE49-F238E27FC236}">
                <a16:creationId xmlns:a16="http://schemas.microsoft.com/office/drawing/2014/main" id="{58D5B720-FABF-773C-B9E9-5D0D6DFC104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40413" y="4310062"/>
            <a:ext cx="177849" cy="228600"/>
          </a:xfrm>
          <a:prstGeom prst="rect">
            <a:avLst/>
          </a:prstGeom>
        </p:spPr>
      </p:pic>
      <p:sp>
        <p:nvSpPr>
          <p:cNvPr id="37" name="TextBox 20">
            <a:extLst>
              <a:ext uri="{FF2B5EF4-FFF2-40B4-BE49-F238E27FC236}">
                <a16:creationId xmlns:a16="http://schemas.microsoft.com/office/drawing/2014/main" id="{6A440A76-757C-34C5-D386-C60C0F060CF7}"/>
              </a:ext>
            </a:extLst>
          </p:cNvPr>
          <p:cNvSpPr txBox="1"/>
          <p:nvPr/>
        </p:nvSpPr>
        <p:spPr>
          <a:xfrm>
            <a:off x="7186612" y="4157662"/>
            <a:ext cx="43855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>
                <a:latin typeface="Noto Sans TC"/>
              </a:rPr>
              <a:t>基地平坦地形方正</a:t>
            </a: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5DBC1370-0F36-19C1-0709-0E6EE0F02A8E}"/>
              </a:ext>
            </a:extLst>
          </p:cNvPr>
          <p:cNvSpPr txBox="1"/>
          <p:nvPr/>
        </p:nvSpPr>
        <p:spPr>
          <a:xfrm>
            <a:off x="7186612" y="4491037"/>
            <a:ext cx="4176712" cy="472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0" i="0" u="none">
                <a:latin typeface="Noto Sans TC"/>
              </a:rPr>
              <a:t>現場地勢平整（已設圍籬與部分鋪面），可大幅節省前期土地開挖、填土與整地開發成本。</a:t>
            </a:r>
          </a:p>
        </p:txBody>
      </p:sp>
    </p:spTree>
    <p:extLst>
      <p:ext uri="{BB962C8B-B14F-4D97-AF65-F5344CB8AC3E}">
        <p14:creationId xmlns:p14="http://schemas.microsoft.com/office/powerpoint/2010/main" val="3639134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3782</TotalTime>
  <Words>286</Words>
  <Application>Microsoft Macintosh PowerPoint</Application>
  <PresentationFormat>寬螢幕</PresentationFormat>
  <Paragraphs>52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5" baseType="lpstr">
      <vt:lpstr>微軟正黑體</vt:lpstr>
      <vt:lpstr>Microsoft YaHei</vt:lpstr>
      <vt:lpstr>Noto Sans TC</vt:lpstr>
      <vt:lpstr>Arial</vt:lpstr>
      <vt:lpstr>Calibri</vt:lpstr>
      <vt:lpstr>Calibri Light</vt:lpstr>
      <vt:lpstr>Montserrat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Microsoft Office User</cp:lastModifiedBy>
  <cp:revision>240</cp:revision>
  <dcterms:created xsi:type="dcterms:W3CDTF">2021-08-28T02:07:24Z</dcterms:created>
  <dcterms:modified xsi:type="dcterms:W3CDTF">2026-09-11T04:07:16Z</dcterms:modified>
</cp:coreProperties>
</file>