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345" r:id="rId2"/>
    <p:sldId id="278" r:id="rId3"/>
    <p:sldId id="331" r:id="rId4"/>
    <p:sldId id="341" r:id="rId5"/>
    <p:sldId id="350" r:id="rId6"/>
    <p:sldId id="357" r:id="rId7"/>
    <p:sldId id="358" r:id="rId8"/>
    <p:sldId id="355" r:id="rId9"/>
    <p:sldId id="360" r:id="rId10"/>
    <p:sldId id="359" r:id="rId11"/>
    <p:sldId id="269" r:id="rId12"/>
  </p:sldIdLst>
  <p:sldSz cx="12192000" cy="6858000"/>
  <p:notesSz cx="7099300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  <a:srgbClr val="16356D"/>
    <a:srgbClr val="1C4E6E"/>
    <a:srgbClr val="A2B7CE"/>
    <a:srgbClr val="325C82"/>
    <a:srgbClr val="7A0000"/>
    <a:srgbClr val="FFFF00"/>
    <a:srgbClr val="ECECEC"/>
    <a:srgbClr val="789CA4"/>
    <a:srgbClr val="4E6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82" autoAdjust="0"/>
    <p:restoredTop sz="94660"/>
  </p:normalViewPr>
  <p:slideViewPr>
    <p:cSldViewPr snapToGrid="0">
      <p:cViewPr>
        <p:scale>
          <a:sx n="75" d="100"/>
          <a:sy n="75" d="100"/>
        </p:scale>
        <p:origin x="552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153081E-070E-498F-8628-71D75274AD45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DDDA6654-567E-490D-AB72-999ED83BC8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223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6D7FE-78BB-3972-C513-42D32C23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F058951-7027-6453-F4CF-48A58DA7A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7AD432C-2DCF-C17A-377D-3B78CC725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F40A80-0C36-BC32-7874-D35DA661A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A6654-567E-490D-AB72-999ED83BC83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4792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06788E-E2AD-40FE-BFC5-0D9627760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314A8EC-4FBE-478E-B9E6-C19FF847D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7F6662-4132-46A8-9457-77149077D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6ED7AA-1033-4187-9EE7-196C62E38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0417ED-E3CA-4356-AB73-85A1B985F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1927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CE6667-DFC5-43B1-8ED2-D4415D9B0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B9267B-6982-48AC-9F1B-FD1E26C82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3A6B64-A209-48F1-AB5C-8FAAB29D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4B2252-4AA0-4D49-998F-B96EE70A6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D42441-402F-4CF7-A36A-7AD2D40BC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1477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9DD378-C8A9-4C36-B29D-1DD6012DE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C95BAC-B2ED-4A73-9C9C-78F324315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049F2A-2EB8-4758-8DE8-BFE46654A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287DD4-F63F-4FBE-AF8F-BF3C1F9AC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F11674-2C41-4574-BCBA-862905A7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07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CC2417-58CC-4FC5-B021-F262F3D77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9FDA4B-67C9-48E2-9BC4-F441B2EA0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BE84DF-1AC0-44C9-9CA7-9425B2211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A6368A7-40A7-41D8-A460-A93C056A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D32FB3-2DC9-43E3-A0DC-9937B07F5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C94F6D3-905E-42DD-ABB5-E22A3497F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587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B7A204-B9B3-4D09-9F19-809DBFF85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7E5C08-5AC9-4754-B7C2-1BCB0F2CC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C47FB47-09E4-41D0-932F-F1B6C3C1B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9285C0D-31AC-458D-AE92-F62287FE2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E6F7391-17CE-44F1-9237-07D1E426C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5D10CC5-4117-4704-82A5-7B826258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5150EA1-2401-4A32-B8E2-7295C019B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87E43CE-E5DE-4792-8142-3E101E60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1277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24D4A1-12AE-49EE-B271-6798A5D8A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DE03102-3E3D-4B47-A5E7-AC107814F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8D65731-9DDD-4A10-BDD1-90E18259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614AD3-225A-4B8D-91C3-E954B680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2381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F6D0E31-959D-4DA0-AB02-160FA2DE6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56719BA-47FF-4D35-A889-BED37D99B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5F7402-F7E6-437C-B05F-21B75703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6903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04C93F-A92D-43FE-9453-E8EBB7C2A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B9A95B-3009-4AD6-AD3F-F89B578D4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BAB4C1C-C2EC-4601-8298-ECECB8A4F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C8F8876-2AC0-4160-9D06-5A0833009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B3A1188-3907-4640-AB7A-4E5497300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731A29B-C8B1-4731-9D38-04BA36C5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6568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8E586F-971A-4446-A514-6D4F8A8A9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67F0BBB-D5D6-49A4-89D4-30698B028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1CFAE99-05F0-49FD-AC72-2076A3D75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76DD3D5-3508-45F6-9267-D03C865E8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70F096-E800-4631-BFCC-69C85556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139ADBF-A267-45E0-BA14-CEE7039A8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5550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0E270A-F8E9-4D8E-8CC8-48574693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2786DAA-F4E9-4E09-ABD8-503125C90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930624-3BD1-4EC0-8C37-EE587B10C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F9712E-EBED-4C30-B61A-9B816C8F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3C6F30-792E-4909-8021-E4E89E99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772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E92353B-66FB-4933-9A2A-CE5B88CD69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5C1118D-FAAB-4C2D-B093-2810E2C40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67C014-FA16-44B8-92EC-B55FE44D9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9FFF3E-4495-44DD-94EF-1435240F2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56A6F4-D0EA-44F1-BF51-F514657BC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5527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072353D-A271-4901-AE1D-A3DCEF1DA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01FA21-3543-4751-9C82-8865389FE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28AB9A-AC7C-4B9E-9AA6-D8458655E6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66F85-D4B6-4F6E-B269-52359023089C}" type="datetimeFigureOut">
              <a:rPr lang="zh-TW" altLang="en-US" smtClean="0"/>
              <a:t>2026/9/9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DF824E-16F0-4BE1-8BCB-71B2359B26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79DF8D-34C9-4340-A197-6B00CD1D6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689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8E25F-9E0A-CBBB-21BF-7605C08FF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342F7769-13E8-FB1E-883F-835CB748D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51" y="1212244"/>
            <a:ext cx="1526069" cy="27997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1BF16A7-9D49-0CD9-A8F8-3C48630D08EE}"/>
              </a:ext>
            </a:extLst>
          </p:cNvPr>
          <p:cNvSpPr txBox="1"/>
          <p:nvPr/>
        </p:nvSpPr>
        <p:spPr>
          <a:xfrm>
            <a:off x="437821" y="2325857"/>
            <a:ext cx="246095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鳳山區 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A65B76E-D22C-FA82-3374-4D500ADD6CBA}"/>
              </a:ext>
            </a:extLst>
          </p:cNvPr>
          <p:cNvSpPr txBox="1"/>
          <p:nvPr/>
        </p:nvSpPr>
        <p:spPr>
          <a:xfrm>
            <a:off x="2258695" y="2333769"/>
            <a:ext cx="310693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牛潮埔</a:t>
            </a:r>
            <a:endParaRPr lang="en-US" altLang="zh-TW" sz="24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2E9F361-BEF9-9412-7F65-323389E1B93E}"/>
              </a:ext>
            </a:extLst>
          </p:cNvPr>
          <p:cNvSpPr txBox="1"/>
          <p:nvPr/>
        </p:nvSpPr>
        <p:spPr>
          <a:xfrm>
            <a:off x="437820" y="3114108"/>
            <a:ext cx="42808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鳳仁路旁｜</a:t>
            </a:r>
            <a:r>
              <a:rPr lang="en-US" altLang="zh-TW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249</a:t>
            </a: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坪乙工廠房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現有冷藏庫｜水產食品業首選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3AA01BB5-99EB-A3A6-65E9-9D24EAE14CDD}"/>
              </a:ext>
            </a:extLst>
          </p:cNvPr>
          <p:cNvSpPr/>
          <p:nvPr/>
        </p:nvSpPr>
        <p:spPr>
          <a:xfrm rot="2799015">
            <a:off x="1637339" y="-1336162"/>
            <a:ext cx="2095500" cy="2095500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D29EE37E-C0E6-D26F-4048-BDBA53B2C1B1}"/>
              </a:ext>
            </a:extLst>
          </p:cNvPr>
          <p:cNvSpPr/>
          <p:nvPr/>
        </p:nvSpPr>
        <p:spPr>
          <a:xfrm>
            <a:off x="548388" y="4386803"/>
            <a:ext cx="1261641" cy="45719"/>
          </a:xfrm>
          <a:custGeom>
            <a:avLst/>
            <a:gdLst>
              <a:gd name="connsiteX0" fmla="*/ 0 w 1944547"/>
              <a:gd name="connsiteY0" fmla="*/ 0 h 0"/>
              <a:gd name="connsiteX1" fmla="*/ 1944547 w 194454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44547">
                <a:moveTo>
                  <a:pt x="0" y="0"/>
                </a:moveTo>
                <a:lnTo>
                  <a:pt x="1944547" y="0"/>
                </a:lnTo>
              </a:path>
            </a:pathLst>
          </a:custGeom>
          <a:noFill/>
          <a:ln w="76200">
            <a:solidFill>
              <a:srgbClr val="1635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8E3E49A-A695-D97F-90F9-59005F213ED7}"/>
              </a:ext>
            </a:extLst>
          </p:cNvPr>
          <p:cNvSpPr txBox="1"/>
          <p:nvPr/>
        </p:nvSpPr>
        <p:spPr>
          <a:xfrm>
            <a:off x="437821" y="5307813"/>
            <a:ext cx="4280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地坪 </a:t>
            </a:r>
            <a:r>
              <a:rPr lang="en-US" altLang="zh-TW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 249</a:t>
            </a:r>
            <a:r>
              <a:rPr lang="zh-TW" altLang="en-US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坪</a:t>
            </a:r>
            <a:endParaRPr lang="en-US" altLang="zh-TW" b="1" dirty="0">
              <a:solidFill>
                <a:srgbClr val="16356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lang="zh-TW" altLang="en-US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建坪 </a:t>
            </a:r>
            <a:r>
              <a:rPr lang="en-US" altLang="zh-TW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 199</a:t>
            </a:r>
            <a:r>
              <a:rPr lang="zh-TW" altLang="en-US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坪；</a:t>
            </a:r>
            <a:r>
              <a:rPr lang="zh-TW" altLang="en-US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另三層增建滿</a:t>
            </a:r>
            <a:endParaRPr lang="en-US" altLang="zh-TW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8AA564-139C-F425-260B-2A1ABCF3DD1A}"/>
              </a:ext>
            </a:extLst>
          </p:cNvPr>
          <p:cNvSpPr txBox="1"/>
          <p:nvPr/>
        </p:nvSpPr>
        <p:spPr>
          <a:xfrm>
            <a:off x="437821" y="1507803"/>
            <a:ext cx="2406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8032FF-AC8E-4B96-85F0-C24167E51302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4" name="圖片 13" descr="一張含有 螢幕擷取畫面 的圖片&#10;&#10;自動產生的描述">
            <a:extLst>
              <a:ext uri="{FF2B5EF4-FFF2-40B4-BE49-F238E27FC236}">
                <a16:creationId xmlns:a16="http://schemas.microsoft.com/office/drawing/2014/main" id="{406AEFA4-80E8-4A4E-9278-C853A6679D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字方塊 48">
            <a:extLst>
              <a:ext uri="{FF2B5EF4-FFF2-40B4-BE49-F238E27FC236}">
                <a16:creationId xmlns:a16="http://schemas.microsoft.com/office/drawing/2014/main" id="{331618C2-4ED8-4C03-A1BA-83816E3DF102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7" name="文字方塊 48">
            <a:extLst>
              <a:ext uri="{FF2B5EF4-FFF2-40B4-BE49-F238E27FC236}">
                <a16:creationId xmlns:a16="http://schemas.microsoft.com/office/drawing/2014/main" id="{DBE91E92-3DC8-4F6C-B0C7-82797A42A39D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F0A2481-6B0B-4C52-9B09-B0E653796F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9419" y="2485634"/>
            <a:ext cx="7081522" cy="339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70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724AC66-2C6A-493A-9CCD-6D94F16B2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008" y="42828"/>
            <a:ext cx="4700723" cy="6651144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49FCBEC4-3028-EB72-DE2E-3966AA3A0840}"/>
              </a:ext>
            </a:extLst>
          </p:cNvPr>
          <p:cNvSpPr txBox="1"/>
          <p:nvPr/>
        </p:nvSpPr>
        <p:spPr>
          <a:xfrm>
            <a:off x="1392470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基本資訊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9206AEC-0470-E174-3055-612F751930CD}"/>
              </a:ext>
            </a:extLst>
          </p:cNvPr>
          <p:cNvSpPr txBox="1"/>
          <p:nvPr/>
        </p:nvSpPr>
        <p:spPr>
          <a:xfrm>
            <a:off x="337269" y="3565124"/>
            <a:ext cx="6771573" cy="2959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基地面積：約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249.26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r>
              <a:rPr lang="zh-TW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（依謄本登記為主）</a:t>
            </a:r>
            <a:endParaRPr lang="en-US" altLang="zh-TW" sz="16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建物面積：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199.97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r>
              <a:rPr lang="zh-TW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（依謄本登記為主）</a:t>
            </a:r>
            <a:r>
              <a:rPr lang="en-US" altLang="zh-TW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; </a:t>
            </a:r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另</a:t>
            </a: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三層增建滿約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80</a:t>
            </a: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坪</a:t>
            </a:r>
            <a:endParaRPr kumimoji="0" lang="en-US" altLang="zh-TW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>
              <a:spcBef>
                <a:spcPts val="1000"/>
              </a:spcBef>
              <a:buSzPct val="70000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             </a:t>
            </a:r>
            <a:r>
              <a:rPr lang="en-US" altLang="zh-TW" sz="14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一層</a:t>
            </a:r>
            <a:r>
              <a:rPr lang="en-US" altLang="zh-TW" sz="14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101.33</a:t>
            </a:r>
            <a:r>
              <a:rPr lang="zh-TW" altLang="en-US" sz="14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坪、二層</a:t>
            </a:r>
            <a:r>
              <a:rPr lang="en-US" altLang="zh-TW" sz="14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85.04</a:t>
            </a:r>
            <a:r>
              <a:rPr lang="zh-TW" altLang="en-US" sz="14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坪、屋突</a:t>
            </a:r>
            <a:r>
              <a:rPr lang="en-US" altLang="zh-TW" sz="14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4.53</a:t>
            </a:r>
            <a:r>
              <a:rPr lang="zh-TW" altLang="en-US" sz="14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坪、地下層</a:t>
            </a:r>
            <a:r>
              <a:rPr lang="en-US" altLang="zh-TW" sz="14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9.05</a:t>
            </a:r>
            <a:r>
              <a:rPr lang="zh-TW" altLang="en-US" sz="14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r>
              <a:rPr lang="en-US" altLang="zh-TW" sz="14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kumimoji="0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使用分區：乙種工業區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(70%/210%)</a:t>
            </a: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面寬深度：約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30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米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/26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米</a:t>
            </a:r>
            <a:endParaRPr lang="en-US" altLang="zh-TW" sz="1600" b="1" dirty="0">
              <a:solidFill>
                <a:srgbClr val="16356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臨路：既成巷道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(5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米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；鳳仁路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(12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米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售價：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8500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萬（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34.1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地坪）</a:t>
            </a:r>
            <a:endParaRPr lang="en-US" altLang="zh-TW" sz="16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備註：</a:t>
            </a:r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冷藏庫約</a:t>
            </a:r>
            <a:r>
              <a:rPr lang="en-US" altLang="zh-TW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</a:t>
            </a:r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坪；貨梯；既成巷道約</a:t>
            </a:r>
            <a:r>
              <a:rPr lang="en-US" altLang="zh-TW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40</a:t>
            </a:r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69BCD28D-6172-E88C-ED94-D8E0B19BC55C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9" name="圖片 18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CB2FC99A-6544-8430-0694-6379C18CE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930E9003-B560-4B8D-C37B-6D9D7BDF8293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手繪多邊形: 圖案 29">
            <a:extLst>
              <a:ext uri="{FF2B5EF4-FFF2-40B4-BE49-F238E27FC236}">
                <a16:creationId xmlns:a16="http://schemas.microsoft.com/office/drawing/2014/main" id="{93A7FAAA-B15B-F1F0-294D-9A81964D5B6A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5EAA183-AC0C-470C-A78F-3557C8A0001A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3" name="圖片 22" descr="一張含有 螢幕擷取畫面 的圖片&#10;&#10;自動產生的描述">
            <a:extLst>
              <a:ext uri="{FF2B5EF4-FFF2-40B4-BE49-F238E27FC236}">
                <a16:creationId xmlns:a16="http://schemas.microsoft.com/office/drawing/2014/main" id="{37A7658B-53EC-4115-B317-23783C5E14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文字方塊 48">
            <a:extLst>
              <a:ext uri="{FF2B5EF4-FFF2-40B4-BE49-F238E27FC236}">
                <a16:creationId xmlns:a16="http://schemas.microsoft.com/office/drawing/2014/main" id="{D48ED9B5-CFBA-438A-84D7-2A95FF34B384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25" name="文字方塊 48">
            <a:extLst>
              <a:ext uri="{FF2B5EF4-FFF2-40B4-BE49-F238E27FC236}">
                <a16:creationId xmlns:a16="http://schemas.microsoft.com/office/drawing/2014/main" id="{FB46AF16-BF46-4E3E-8DBD-79C7999D4B37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4BD84168-DA34-989E-AA58-AC6E009C50C7}"/>
              </a:ext>
            </a:extLst>
          </p:cNvPr>
          <p:cNvSpPr txBox="1"/>
          <p:nvPr/>
        </p:nvSpPr>
        <p:spPr>
          <a:xfrm>
            <a:off x="5240633" y="1224632"/>
            <a:ext cx="21090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■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鳳山區鳳仁路</a:t>
            </a:r>
            <a:endParaRPr lang="en-US" altLang="zh-TW" sz="1600" b="1" dirty="0">
              <a:solidFill>
                <a:srgbClr val="16356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98-1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號</a:t>
            </a: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6201F184-48C8-4CDC-9BFC-6E833FE301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269" y="1179223"/>
            <a:ext cx="4952724" cy="2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627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4B6F8-4F3B-B767-705B-1E8A7289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9E5A6945-614A-440B-851D-9D12F5B70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901" y="579307"/>
            <a:ext cx="8745148" cy="6180669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F17DD2EB-7810-94C0-3B22-ECAF43C5F140}"/>
              </a:ext>
            </a:extLst>
          </p:cNvPr>
          <p:cNvSpPr txBox="1"/>
          <p:nvPr/>
        </p:nvSpPr>
        <p:spPr>
          <a:xfrm>
            <a:off x="1252764" y="542197"/>
            <a:ext cx="2042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測量成果圖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3F16807-1D7B-E962-413F-C57340FA5A4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5" name="圖片 4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8EFBBA36-F364-1C92-4D41-364C51DCB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4B51E3A-23C5-EF1D-4ECA-158DF1D99A5E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手繪多邊形: 圖案 6">
            <a:extLst>
              <a:ext uri="{FF2B5EF4-FFF2-40B4-BE49-F238E27FC236}">
                <a16:creationId xmlns:a16="http://schemas.microsoft.com/office/drawing/2014/main" id="{DD005A58-D70F-9B28-CA9C-C413FF007896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450D48-109D-4EEB-B089-BEEC63FE6CFE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0" name="圖片 9" descr="一張含有 螢幕擷取畫面 的圖片&#10;&#10;自動產生的描述">
            <a:extLst>
              <a:ext uri="{FF2B5EF4-FFF2-40B4-BE49-F238E27FC236}">
                <a16:creationId xmlns:a16="http://schemas.microsoft.com/office/drawing/2014/main" id="{CCE94352-5FDB-4173-9F86-C4408CB82E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字方塊 48">
            <a:extLst>
              <a:ext uri="{FF2B5EF4-FFF2-40B4-BE49-F238E27FC236}">
                <a16:creationId xmlns:a16="http://schemas.microsoft.com/office/drawing/2014/main" id="{48236D25-6F15-4F6A-B3EB-0C38B1C712EB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2" name="文字方塊 48">
            <a:extLst>
              <a:ext uri="{FF2B5EF4-FFF2-40B4-BE49-F238E27FC236}">
                <a16:creationId xmlns:a16="http://schemas.microsoft.com/office/drawing/2014/main" id="{11DA7620-7D4A-4110-9836-1A116B08D65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06138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C849A699-E38E-4051-90A8-D10D8C661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106" y="886645"/>
            <a:ext cx="8840612" cy="6247399"/>
          </a:xfrm>
          <a:prstGeom prst="rect">
            <a:avLst/>
          </a:prstGeom>
        </p:spPr>
      </p:pic>
      <p:sp>
        <p:nvSpPr>
          <p:cNvPr id="3" name="矩形: 圓角 2">
            <a:extLst>
              <a:ext uri="{FF2B5EF4-FFF2-40B4-BE49-F238E27FC236}">
                <a16:creationId xmlns:a16="http://schemas.microsoft.com/office/drawing/2014/main" id="{E6F69274-C4ED-1CE3-23F8-E4D52DCB2852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5" name="圖片 4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89B8B485-3387-ABB4-EBC1-9966F170D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2BD8AE4-7876-222D-D989-1F1BF42AA798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C3B453A-FE59-B8E4-9653-2445C1C34E0D}"/>
              </a:ext>
            </a:extLst>
          </p:cNvPr>
          <p:cNvSpPr txBox="1"/>
          <p:nvPr/>
        </p:nvSpPr>
        <p:spPr>
          <a:xfrm>
            <a:off x="1511007" y="538374"/>
            <a:ext cx="1934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使用執照</a:t>
            </a:r>
          </a:p>
        </p:txBody>
      </p:sp>
      <p:sp>
        <p:nvSpPr>
          <p:cNvPr id="9" name="手繪多邊形: 圖案 8">
            <a:extLst>
              <a:ext uri="{FF2B5EF4-FFF2-40B4-BE49-F238E27FC236}">
                <a16:creationId xmlns:a16="http://schemas.microsoft.com/office/drawing/2014/main" id="{1E87D742-C8EF-8455-238E-2A87C8308303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B51C8F6-43CE-4E4E-BC30-DB20AC90686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5" name="圖片 14" descr="一張含有 螢幕擷取畫面 的圖片&#10;&#10;自動產生的描述">
            <a:extLst>
              <a:ext uri="{FF2B5EF4-FFF2-40B4-BE49-F238E27FC236}">
                <a16:creationId xmlns:a16="http://schemas.microsoft.com/office/drawing/2014/main" id="{0957B0C0-40A5-42BF-A497-3B9B25D329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文字方塊 48">
            <a:extLst>
              <a:ext uri="{FF2B5EF4-FFF2-40B4-BE49-F238E27FC236}">
                <a16:creationId xmlns:a16="http://schemas.microsoft.com/office/drawing/2014/main" id="{CDD88D51-D96E-4333-95A4-F536F9337082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7" name="文字方塊 48">
            <a:extLst>
              <a:ext uri="{FF2B5EF4-FFF2-40B4-BE49-F238E27FC236}">
                <a16:creationId xmlns:a16="http://schemas.microsoft.com/office/drawing/2014/main" id="{86BB8D57-1AE7-4F5F-AD6F-0F72F4F4FC23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50851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4B6F8-4F3B-B767-705B-1E8A7289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0450D48-109D-4EEB-B089-BEEC63FE6CFE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0" name="圖片 9" descr="一張含有 螢幕擷取畫面 的圖片&#10;&#10;自動產生的描述">
            <a:extLst>
              <a:ext uri="{FF2B5EF4-FFF2-40B4-BE49-F238E27FC236}">
                <a16:creationId xmlns:a16="http://schemas.microsoft.com/office/drawing/2014/main" id="{CCE94352-5FDB-4173-9F86-C4408CB82E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字方塊 48">
            <a:extLst>
              <a:ext uri="{FF2B5EF4-FFF2-40B4-BE49-F238E27FC236}">
                <a16:creationId xmlns:a16="http://schemas.microsoft.com/office/drawing/2014/main" id="{48236D25-6F15-4F6A-B3EB-0C38B1C712EB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2" name="文字方塊 48">
            <a:extLst>
              <a:ext uri="{FF2B5EF4-FFF2-40B4-BE49-F238E27FC236}">
                <a16:creationId xmlns:a16="http://schemas.microsoft.com/office/drawing/2014/main" id="{11DA7620-7D4A-4110-9836-1A116B08D65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F17DD2EB-7810-94C0-3B22-ECAF43C5F140}"/>
              </a:ext>
            </a:extLst>
          </p:cNvPr>
          <p:cNvSpPr txBox="1"/>
          <p:nvPr/>
        </p:nvSpPr>
        <p:spPr>
          <a:xfrm>
            <a:off x="1246846" y="520865"/>
            <a:ext cx="2042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交通區位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3F16807-1D7B-E962-413F-C57340FA5A4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5" name="圖片 4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8EFBBA36-F364-1C92-4D41-364C51DCB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4B51E3A-23C5-EF1D-4ECA-158DF1D99A5E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手繪多邊形: 圖案 6">
            <a:extLst>
              <a:ext uri="{FF2B5EF4-FFF2-40B4-BE49-F238E27FC236}">
                <a16:creationId xmlns:a16="http://schemas.microsoft.com/office/drawing/2014/main" id="{DD005A58-D70F-9B28-CA9C-C413FF007896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00B69F7A-74B6-485B-930D-7C7C7B8FE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926" y="1079364"/>
            <a:ext cx="11611155" cy="5372136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76A3A1EF-70B2-454B-B6FF-E87E455E96DC}"/>
              </a:ext>
            </a:extLst>
          </p:cNvPr>
          <p:cNvSpPr/>
          <p:nvPr/>
        </p:nvSpPr>
        <p:spPr>
          <a:xfrm>
            <a:off x="4927022" y="3561066"/>
            <a:ext cx="506323" cy="273225"/>
          </a:xfrm>
          <a:prstGeom prst="rect">
            <a:avLst/>
          </a:prstGeom>
          <a:solidFill>
            <a:srgbClr val="FF0000"/>
          </a:solidFill>
          <a:ln w="25400">
            <a:solidFill>
              <a:srgbClr val="FFFF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標的</a:t>
            </a:r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9B780157-7566-4DF5-86B3-898FC4D438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991" y="3601890"/>
            <a:ext cx="172031" cy="301128"/>
          </a:xfrm>
          <a:prstGeom prst="rect">
            <a:avLst/>
          </a:prstGeom>
        </p:spPr>
      </p:pic>
      <p:sp>
        <p:nvSpPr>
          <p:cNvPr id="14" name="橢圓 13">
            <a:extLst>
              <a:ext uri="{FF2B5EF4-FFF2-40B4-BE49-F238E27FC236}">
                <a16:creationId xmlns:a16="http://schemas.microsoft.com/office/drawing/2014/main" id="{33709D28-3694-4549-98FC-829BADABEAFC}"/>
              </a:ext>
            </a:extLst>
          </p:cNvPr>
          <p:cNvSpPr/>
          <p:nvPr/>
        </p:nvSpPr>
        <p:spPr>
          <a:xfrm>
            <a:off x="5632398" y="2612725"/>
            <a:ext cx="927204" cy="514690"/>
          </a:xfrm>
          <a:prstGeom prst="ellipse">
            <a:avLst/>
          </a:prstGeom>
          <a:solidFill>
            <a:schemeClr val="accent2">
              <a:lumMod val="75000"/>
              <a:alpha val="90000"/>
            </a:schemeClr>
          </a:solidFill>
          <a:ln w="2222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華鳳</a:t>
            </a:r>
            <a:endParaRPr lang="en-US" altLang="zh-TW"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defRPr/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工業城</a:t>
            </a:r>
            <a:endParaRPr lang="en-US" altLang="zh-TW"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A00D74F3-6895-4B08-A601-B88BE3D26100}"/>
              </a:ext>
            </a:extLst>
          </p:cNvPr>
          <p:cNvSpPr/>
          <p:nvPr/>
        </p:nvSpPr>
        <p:spPr>
          <a:xfrm>
            <a:off x="4718991" y="3837642"/>
            <a:ext cx="922384" cy="480469"/>
          </a:xfrm>
          <a:prstGeom prst="ellipse">
            <a:avLst/>
          </a:prstGeom>
          <a:solidFill>
            <a:schemeClr val="accent2">
              <a:lumMod val="75000"/>
              <a:alpha val="90000"/>
            </a:schemeClr>
          </a:solidFill>
          <a:ln w="2222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宏森</a:t>
            </a:r>
            <a:endParaRPr lang="en-US" altLang="zh-TW"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defRPr/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工業城</a:t>
            </a:r>
            <a:endParaRPr lang="en-US" altLang="zh-TW"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2444BC32-EB78-4364-891E-978D439C7451}"/>
              </a:ext>
            </a:extLst>
          </p:cNvPr>
          <p:cNvSpPr/>
          <p:nvPr/>
        </p:nvSpPr>
        <p:spPr>
          <a:xfrm rot="19981812">
            <a:off x="7035938" y="2324021"/>
            <a:ext cx="608961" cy="469127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4BC64741-2C8E-4A45-994A-E06391B99889}"/>
              </a:ext>
            </a:extLst>
          </p:cNvPr>
          <p:cNvSpPr/>
          <p:nvPr/>
        </p:nvSpPr>
        <p:spPr>
          <a:xfrm>
            <a:off x="6736329" y="4485737"/>
            <a:ext cx="1527777" cy="621998"/>
          </a:xfrm>
          <a:prstGeom prst="ellipse">
            <a:avLst/>
          </a:prstGeom>
          <a:solidFill>
            <a:srgbClr val="00B05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未來國七</a:t>
            </a:r>
            <a:endParaRPr lang="en-US" altLang="zh-TW" sz="11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defRPr/>
            </a:pPr>
            <a:r>
              <a:rPr lang="zh-TW" altLang="en-US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鳳寮交流道</a:t>
            </a:r>
            <a:r>
              <a:rPr lang="en-US" altLang="zh-TW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北</a:t>
            </a:r>
            <a:r>
              <a:rPr lang="en-US" altLang="zh-TW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1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1982065D-5BF6-4E53-B3A2-D9DF19503343}"/>
              </a:ext>
            </a:extLst>
          </p:cNvPr>
          <p:cNvSpPr/>
          <p:nvPr/>
        </p:nvSpPr>
        <p:spPr>
          <a:xfrm rot="19981812">
            <a:off x="4120209" y="4052764"/>
            <a:ext cx="608961" cy="469127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4FB8AEFF-CA72-401B-8A17-45A2062C4CB3}"/>
              </a:ext>
            </a:extLst>
          </p:cNvPr>
          <p:cNvSpPr/>
          <p:nvPr/>
        </p:nvSpPr>
        <p:spPr>
          <a:xfrm rot="866207">
            <a:off x="9698628" y="1380867"/>
            <a:ext cx="608961" cy="469127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FF4BC159-FD56-4E58-84F6-BCE3152461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2376" y="4139425"/>
            <a:ext cx="498810" cy="495045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FECFB207-3A91-4A64-859D-21E9A98578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976" y="4145116"/>
            <a:ext cx="498810" cy="495045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DC5353FE-5DF9-4EF7-BECC-4AAA66018C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5424" y="4612689"/>
            <a:ext cx="498810" cy="495045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DEA50158-FE7D-4C1E-AA68-5892B08A56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4980" y="3429000"/>
            <a:ext cx="498810" cy="495045"/>
          </a:xfrm>
          <a:prstGeom prst="rect">
            <a:avLst/>
          </a:prstGeom>
        </p:spPr>
      </p:pic>
      <p:sp>
        <p:nvSpPr>
          <p:cNvPr id="25" name="橢圓 24">
            <a:extLst>
              <a:ext uri="{FF2B5EF4-FFF2-40B4-BE49-F238E27FC236}">
                <a16:creationId xmlns:a16="http://schemas.microsoft.com/office/drawing/2014/main" id="{99BA7CF7-6C0A-4291-A6D0-0C75B2F4633B}"/>
              </a:ext>
            </a:extLst>
          </p:cNvPr>
          <p:cNvSpPr/>
          <p:nvPr/>
        </p:nvSpPr>
        <p:spPr>
          <a:xfrm rot="2234316">
            <a:off x="6809595" y="1007848"/>
            <a:ext cx="608961" cy="469127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F5CD3BCC-C261-4929-9E4C-D7347850D3F5}"/>
              </a:ext>
            </a:extLst>
          </p:cNvPr>
          <p:cNvSpPr/>
          <p:nvPr/>
        </p:nvSpPr>
        <p:spPr>
          <a:xfrm rot="17040772">
            <a:off x="2619552" y="2517826"/>
            <a:ext cx="608961" cy="469127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6637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4B6F8-4F3B-B767-705B-1E8A7289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74D46C1E-A1E2-4855-8732-E4AB6ADC7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048" y="1095785"/>
            <a:ext cx="9490341" cy="533831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0450D48-109D-4EEB-B089-BEEC63FE6CFE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0" name="圖片 9" descr="一張含有 螢幕擷取畫面 的圖片&#10;&#10;自動產生的描述">
            <a:extLst>
              <a:ext uri="{FF2B5EF4-FFF2-40B4-BE49-F238E27FC236}">
                <a16:creationId xmlns:a16="http://schemas.microsoft.com/office/drawing/2014/main" id="{CCE94352-5FDB-4173-9F86-C4408CB82E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字方塊 48">
            <a:extLst>
              <a:ext uri="{FF2B5EF4-FFF2-40B4-BE49-F238E27FC236}">
                <a16:creationId xmlns:a16="http://schemas.microsoft.com/office/drawing/2014/main" id="{48236D25-6F15-4F6A-B3EB-0C38B1C712EB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2" name="文字方塊 48">
            <a:extLst>
              <a:ext uri="{FF2B5EF4-FFF2-40B4-BE49-F238E27FC236}">
                <a16:creationId xmlns:a16="http://schemas.microsoft.com/office/drawing/2014/main" id="{11DA7620-7D4A-4110-9836-1A116B08D65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F17DD2EB-7810-94C0-3B22-ECAF43C5F140}"/>
              </a:ext>
            </a:extLst>
          </p:cNvPr>
          <p:cNvSpPr txBox="1"/>
          <p:nvPr/>
        </p:nvSpPr>
        <p:spPr>
          <a:xfrm>
            <a:off x="1246846" y="520865"/>
            <a:ext cx="2042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交通區位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3F16807-1D7B-E962-413F-C57340FA5A4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5" name="圖片 4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8EFBBA36-F364-1C92-4D41-364C51DCB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4B51E3A-23C5-EF1D-4ECA-158DF1D99A5E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手繪多邊形: 圖案 6">
            <a:extLst>
              <a:ext uri="{FF2B5EF4-FFF2-40B4-BE49-F238E27FC236}">
                <a16:creationId xmlns:a16="http://schemas.microsoft.com/office/drawing/2014/main" id="{DD005A58-D70F-9B28-CA9C-C413FF007896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1403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400937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空拍圖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CBA326EC-CC19-4345-8D72-9810D32D93B5}"/>
              </a:ext>
            </a:extLst>
          </p:cNvPr>
          <p:cNvGrpSpPr/>
          <p:nvPr/>
        </p:nvGrpSpPr>
        <p:grpSpPr>
          <a:xfrm>
            <a:off x="376683" y="1077326"/>
            <a:ext cx="11406997" cy="5358817"/>
            <a:chOff x="376683" y="1077326"/>
            <a:chExt cx="11406997" cy="5358817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18B21107-7D83-4CAC-86D7-35BE74784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6683" y="1077326"/>
              <a:ext cx="11406997" cy="5358817"/>
            </a:xfrm>
            <a:prstGeom prst="rect">
              <a:avLst/>
            </a:prstGeom>
          </p:spPr>
        </p:pic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D391CE17-6B5D-412D-A081-7DCD2AEE9A88}"/>
                </a:ext>
              </a:extLst>
            </p:cNvPr>
            <p:cNvSpPr txBox="1"/>
            <p:nvPr/>
          </p:nvSpPr>
          <p:spPr>
            <a:xfrm rot="3482953">
              <a:off x="7756944" y="3768785"/>
              <a:ext cx="403445" cy="10156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2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鳳仁路</a:t>
              </a:r>
              <a:r>
                <a:rPr lang="en-US" altLang="zh-TW" sz="12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12</a:t>
              </a:r>
              <a:r>
                <a:rPr lang="zh-TW" altLang="en-US" sz="12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米</a:t>
              </a:r>
            </a:p>
          </p:txBody>
        </p:sp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32F222F8-0FBD-476D-8B5D-60334AD83219}"/>
                </a:ext>
              </a:extLst>
            </p:cNvPr>
            <p:cNvSpPr/>
            <p:nvPr/>
          </p:nvSpPr>
          <p:spPr>
            <a:xfrm>
              <a:off x="3899140" y="2113472"/>
              <a:ext cx="1337094" cy="1345720"/>
            </a:xfrm>
            <a:custGeom>
              <a:avLst/>
              <a:gdLst>
                <a:gd name="connsiteX0" fmla="*/ 862641 w 1337094"/>
                <a:gd name="connsiteY0" fmla="*/ 0 h 1345720"/>
                <a:gd name="connsiteX1" fmla="*/ 1337094 w 1337094"/>
                <a:gd name="connsiteY1" fmla="*/ 879894 h 1345720"/>
                <a:gd name="connsiteX2" fmla="*/ 439947 w 1337094"/>
                <a:gd name="connsiteY2" fmla="*/ 1345720 h 1345720"/>
                <a:gd name="connsiteX3" fmla="*/ 0 w 1337094"/>
                <a:gd name="connsiteY3" fmla="*/ 422694 h 1345720"/>
                <a:gd name="connsiteX4" fmla="*/ 862641 w 1337094"/>
                <a:gd name="connsiteY4" fmla="*/ 0 h 1345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7094" h="1345720">
                  <a:moveTo>
                    <a:pt x="862641" y="0"/>
                  </a:moveTo>
                  <a:lnTo>
                    <a:pt x="1337094" y="879894"/>
                  </a:lnTo>
                  <a:lnTo>
                    <a:pt x="439947" y="1345720"/>
                  </a:lnTo>
                  <a:lnTo>
                    <a:pt x="0" y="422694"/>
                  </a:lnTo>
                  <a:lnTo>
                    <a:pt x="862641" y="0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839DFFC1-9A64-4E3C-9186-68F434271ACB}"/>
                </a:ext>
              </a:extLst>
            </p:cNvPr>
            <p:cNvSpPr txBox="1"/>
            <p:nvPr/>
          </p:nvSpPr>
          <p:spPr>
            <a:xfrm rot="20039403">
              <a:off x="4799713" y="3860495"/>
              <a:ext cx="375341" cy="120032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2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既成巷道</a:t>
              </a:r>
              <a:r>
                <a:rPr lang="en-US" altLang="zh-TW" sz="12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5</a:t>
              </a:r>
              <a:r>
                <a:rPr lang="zh-TW" altLang="en-US" sz="12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米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23984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400937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現況拍攝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5EBDA07-C323-4BB9-B0E5-12538FE20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543" y="1699689"/>
            <a:ext cx="5209997" cy="388028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4EFF4E7-FF5F-43DD-80F5-88AE60EAB7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6632" y="1699689"/>
            <a:ext cx="5211482" cy="388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596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400937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現況拍攝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28D5886-F0D3-4D28-A997-B2988D1B5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89" y="1371449"/>
            <a:ext cx="3579264" cy="478428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59240E4-E218-49B6-99A7-E2A0F52FE3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697" y="1371449"/>
            <a:ext cx="6406073" cy="4784283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000ABD73-DC87-4F88-9193-F5EF5E4D2F60}"/>
              </a:ext>
            </a:extLst>
          </p:cNvPr>
          <p:cNvSpPr/>
          <p:nvPr/>
        </p:nvSpPr>
        <p:spPr>
          <a:xfrm>
            <a:off x="1878838" y="1568333"/>
            <a:ext cx="937971" cy="402528"/>
          </a:xfrm>
          <a:prstGeom prst="rect">
            <a:avLst/>
          </a:prstGeom>
          <a:solidFill>
            <a:srgbClr val="00B050"/>
          </a:solidFill>
          <a:ln w="25400">
            <a:solidFill>
              <a:srgbClr val="FFFF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貨梯</a:t>
            </a:r>
          </a:p>
        </p:txBody>
      </p:sp>
    </p:spTree>
    <p:extLst>
      <p:ext uri="{BB962C8B-B14F-4D97-AF65-F5344CB8AC3E}">
        <p14:creationId xmlns:p14="http://schemas.microsoft.com/office/powerpoint/2010/main" val="103319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400937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現況拍攝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41D01D0-85B8-4C47-A47C-05B6AF5E8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014" y="1708700"/>
            <a:ext cx="5276660" cy="390282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151616D-F88A-41E4-80D8-0AC506C75A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831" y="1708700"/>
            <a:ext cx="5303842" cy="3902827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645B5BBA-8767-472E-80B2-BC2C4BAABB22}"/>
              </a:ext>
            </a:extLst>
          </p:cNvPr>
          <p:cNvSpPr/>
          <p:nvPr/>
        </p:nvSpPr>
        <p:spPr>
          <a:xfrm>
            <a:off x="3360131" y="2280604"/>
            <a:ext cx="937971" cy="402528"/>
          </a:xfrm>
          <a:prstGeom prst="rect">
            <a:avLst/>
          </a:prstGeom>
          <a:solidFill>
            <a:srgbClr val="00B050"/>
          </a:solidFill>
          <a:ln w="25400">
            <a:solidFill>
              <a:srgbClr val="FFFF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冷藏庫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A6EBD48-5D71-489D-8B63-4954B6575AC6}"/>
              </a:ext>
            </a:extLst>
          </p:cNvPr>
          <p:cNvSpPr/>
          <p:nvPr/>
        </p:nvSpPr>
        <p:spPr>
          <a:xfrm>
            <a:off x="8373484" y="2280604"/>
            <a:ext cx="1367282" cy="402528"/>
          </a:xfrm>
          <a:prstGeom prst="rect">
            <a:avLst/>
          </a:prstGeom>
          <a:solidFill>
            <a:srgbClr val="00B050"/>
          </a:solidFill>
          <a:ln w="25400">
            <a:solidFill>
              <a:srgbClr val="FFFF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三層增建滿</a:t>
            </a:r>
          </a:p>
        </p:txBody>
      </p:sp>
    </p:spTree>
    <p:extLst>
      <p:ext uri="{BB962C8B-B14F-4D97-AF65-F5344CB8AC3E}">
        <p14:creationId xmlns:p14="http://schemas.microsoft.com/office/powerpoint/2010/main" val="755175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方塊 12">
            <a:extLst>
              <a:ext uri="{FF2B5EF4-FFF2-40B4-BE49-F238E27FC236}">
                <a16:creationId xmlns:a16="http://schemas.microsoft.com/office/drawing/2014/main" id="{9A8F9F0C-CBB3-49C2-AECD-ACFC6980F3FE}"/>
              </a:ext>
            </a:extLst>
          </p:cNvPr>
          <p:cNvSpPr txBox="1"/>
          <p:nvPr/>
        </p:nvSpPr>
        <p:spPr>
          <a:xfrm>
            <a:off x="5247714" y="2395358"/>
            <a:ext cx="562883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近市區與       ，交通便捷</a:t>
            </a:r>
            <a:endParaRPr lang="en-US" altLang="zh-TW" sz="2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最快民國</a:t>
            </a:r>
            <a:r>
              <a:rPr lang="en-US" altLang="zh-TW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119</a:t>
            </a: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年完工</a:t>
            </a: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產業聚落完善，食品廠最愛區域</a:t>
            </a:r>
            <a:endParaRPr lang="en-US" altLang="zh-TW" sz="2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適合水產廠、食品廠、電子加工</a:t>
            </a:r>
            <a:endParaRPr lang="en-US" altLang="zh-TW" sz="2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2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地主貨櫃車是以倒車方式進廠區</a:t>
            </a:r>
            <a:endParaRPr lang="en-US" altLang="zh-TW" sz="22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圖片 5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02BAA14F-6DC4-6480-3F80-1366EB0CB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51" y="1212244"/>
            <a:ext cx="1526069" cy="27997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72C1BD5-48EB-B90E-ECF6-4587A8D641E9}"/>
              </a:ext>
            </a:extLst>
          </p:cNvPr>
          <p:cNvSpPr txBox="1"/>
          <p:nvPr/>
        </p:nvSpPr>
        <p:spPr>
          <a:xfrm>
            <a:off x="1205698" y="2261508"/>
            <a:ext cx="246095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投資亮點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83976E9-D898-FF40-43EC-5D35F8C2F902}"/>
              </a:ext>
            </a:extLst>
          </p:cNvPr>
          <p:cNvSpPr/>
          <p:nvPr/>
        </p:nvSpPr>
        <p:spPr>
          <a:xfrm rot="2799015">
            <a:off x="1637339" y="-1336162"/>
            <a:ext cx="2095500" cy="2095500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5A800D9-BC5D-E489-89E9-960E9F683A5E}"/>
              </a:ext>
            </a:extLst>
          </p:cNvPr>
          <p:cNvSpPr txBox="1"/>
          <p:nvPr/>
        </p:nvSpPr>
        <p:spPr>
          <a:xfrm>
            <a:off x="437821" y="1507803"/>
            <a:ext cx="2406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手繪多邊形: 圖案 10">
            <a:extLst>
              <a:ext uri="{FF2B5EF4-FFF2-40B4-BE49-F238E27FC236}">
                <a16:creationId xmlns:a16="http://schemas.microsoft.com/office/drawing/2014/main" id="{0EE9D13D-D700-8EC1-88E4-898CC2AF7098}"/>
              </a:ext>
            </a:extLst>
          </p:cNvPr>
          <p:cNvSpPr/>
          <p:nvPr/>
        </p:nvSpPr>
        <p:spPr>
          <a:xfrm flipV="1">
            <a:off x="3519699" y="2565772"/>
            <a:ext cx="1414395" cy="62279"/>
          </a:xfrm>
          <a:custGeom>
            <a:avLst/>
            <a:gdLst>
              <a:gd name="connsiteX0" fmla="*/ 0 w 3901440"/>
              <a:gd name="connsiteY0" fmla="*/ 0 h 0"/>
              <a:gd name="connsiteX1" fmla="*/ 3901440 w 390144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01440">
                <a:moveTo>
                  <a:pt x="0" y="0"/>
                </a:moveTo>
                <a:lnTo>
                  <a:pt x="390144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BD01A1-7AFC-4711-AE47-386F54FD605B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4" name="圖片 13" descr="一張含有 螢幕擷取畫面 的圖片&#10;&#10;自動產生的描述">
            <a:extLst>
              <a:ext uri="{FF2B5EF4-FFF2-40B4-BE49-F238E27FC236}">
                <a16:creationId xmlns:a16="http://schemas.microsoft.com/office/drawing/2014/main" id="{2292E612-01D1-45F4-AB43-9A941F3E7B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字方塊 48">
            <a:extLst>
              <a:ext uri="{FF2B5EF4-FFF2-40B4-BE49-F238E27FC236}">
                <a16:creationId xmlns:a16="http://schemas.microsoft.com/office/drawing/2014/main" id="{90BABE7C-8E87-4B4E-821F-5D343EA6C56A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6" name="文字方塊 48">
            <a:extLst>
              <a:ext uri="{FF2B5EF4-FFF2-40B4-BE49-F238E27FC236}">
                <a16:creationId xmlns:a16="http://schemas.microsoft.com/office/drawing/2014/main" id="{60028E4E-AF57-4DBE-B1D6-5DBEB84B6F4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8CE8C13-0569-457A-BDCC-AB51360B4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518" y="2389519"/>
            <a:ext cx="427796" cy="419505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48316BEC-F3E1-466C-916D-0146D867E4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372" y="3066696"/>
            <a:ext cx="453846" cy="438060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A752DA65-43F1-4B94-92F8-CE54F9BFF7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9240" y="2944456"/>
            <a:ext cx="3991402" cy="256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919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4770</TotalTime>
  <Words>564</Words>
  <Application>Microsoft Office PowerPoint</Application>
  <PresentationFormat>寬螢幕</PresentationFormat>
  <Paragraphs>77</Paragraphs>
  <Slides>11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Microsoft YaHei</vt:lpstr>
      <vt:lpstr>微軟正黑體</vt:lpstr>
      <vt:lpstr>Arial</vt:lpstr>
      <vt:lpstr>Calibri</vt:lpstr>
      <vt:lpstr>Calibri Light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Mason</dc:creator>
  <cp:lastModifiedBy>偉忠 張</cp:lastModifiedBy>
  <cp:revision>434</cp:revision>
  <cp:lastPrinted>2026-09-09T13:19:10Z</cp:lastPrinted>
  <dcterms:created xsi:type="dcterms:W3CDTF">2021-08-28T02:07:24Z</dcterms:created>
  <dcterms:modified xsi:type="dcterms:W3CDTF">2026-09-09T13:19:27Z</dcterms:modified>
</cp:coreProperties>
</file>