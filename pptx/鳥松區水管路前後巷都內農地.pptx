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350" r:id="rId2"/>
    <p:sldId id="278" r:id="rId3"/>
    <p:sldId id="358" r:id="rId4"/>
    <p:sldId id="352" r:id="rId5"/>
    <p:sldId id="396" r:id="rId6"/>
    <p:sldId id="346" r:id="rId7"/>
    <p:sldId id="269" r:id="rId8"/>
  </p:sldIdLst>
  <p:sldSz cx="12192000" cy="6858000"/>
  <p:notesSz cx="7099300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FF"/>
    <a:srgbClr val="16356D"/>
    <a:srgbClr val="1C4E6E"/>
    <a:srgbClr val="A2B7CE"/>
    <a:srgbClr val="325C82"/>
    <a:srgbClr val="7A0000"/>
    <a:srgbClr val="FFFF00"/>
    <a:srgbClr val="ECECEC"/>
    <a:srgbClr val="789CA4"/>
    <a:srgbClr val="4E6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982" autoAdjust="0"/>
    <p:restoredTop sz="94660"/>
  </p:normalViewPr>
  <p:slideViewPr>
    <p:cSldViewPr snapToGrid="0">
      <p:cViewPr varScale="1">
        <p:scale>
          <a:sx n="74" d="100"/>
          <a:sy n="74" d="100"/>
        </p:scale>
        <p:origin x="60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B153081E-070E-498F-8628-71D75274AD45}" type="datetimeFigureOut">
              <a:rPr lang="zh-TW" altLang="en-US" smtClean="0"/>
              <a:t>2026/7/28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DDDA6654-567E-490D-AB72-999ED83BC83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2234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6D7FE-78BB-3972-C513-42D32C234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F058951-7027-6453-F4CF-48A58DA7A7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7AD432C-2DCF-C17A-377D-3B78CC725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AF40A80-0C36-BC32-7874-D35DA661AE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DA6654-567E-490D-AB72-999ED83BC83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4792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06788E-E2AD-40FE-BFC5-0D96277600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314A8EC-4FBE-478E-B9E6-C19FF847D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7F6662-4132-46A8-9457-77149077D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2026/7/28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F6ED7AA-1033-4187-9EE7-196C62E38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00417ED-E3CA-4356-AB73-85A1B985F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1927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CE6667-DFC5-43B1-8ED2-D4415D9B0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B9267B-6982-48AC-9F1B-FD1E26C82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53A6B64-A209-48F1-AB5C-8FAAB29D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2026/7/28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44B2252-4AA0-4D49-998F-B96EE70A6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8D42441-402F-4CF7-A36A-7AD2D40BC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1477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9DD378-C8A9-4C36-B29D-1DD6012DE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C95BAC-B2ED-4A73-9C9C-78F324315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E049F2A-2EB8-4758-8DE8-BFE46654A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2026/7/28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1287DD4-F63F-4FBE-AF8F-BF3C1F9AC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F11674-2C41-4574-BCBA-862905A7E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207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CC2417-58CC-4FC5-B021-F262F3D77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69FDA4B-67C9-48E2-9BC4-F441B2EA0B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3BE84DF-1AC0-44C9-9CA7-9425B2211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A6368A7-40A7-41D8-A460-A93C056A5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2026/7/28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D32FB3-2DC9-43E3-A0DC-9937B07F5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C94F6D3-905E-42DD-ABB5-E22A3497F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587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B7A204-B9B3-4D09-9F19-809DBFF85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7E5C08-5AC9-4754-B7C2-1BCB0F2CC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C47FB47-09E4-41D0-932F-F1B6C3C1B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9285C0D-31AC-458D-AE92-F62287FE28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E6F7391-17CE-44F1-9237-07D1E426C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5D10CC5-4117-4704-82A5-7B8262581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2026/7/28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5150EA1-2401-4A32-B8E2-7295C019B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87E43CE-E5DE-4792-8142-3E101E60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1277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24D4A1-12AE-49EE-B271-6798A5D8A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DE03102-3E3D-4B47-A5E7-AC107814F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2026/7/28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8D65731-9DDD-4A10-BDD1-90E182593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4614AD3-225A-4B8D-91C3-E954B680A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2381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F6D0E31-959D-4DA0-AB02-160FA2DE6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2026/7/28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56719BA-47FF-4D35-A889-BED37D99B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25F7402-F7E6-437C-B05F-21B757031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69038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04C93F-A92D-43FE-9453-E8EBB7C2A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B9A95B-3009-4AD6-AD3F-F89B578D4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BAB4C1C-C2EC-4601-8298-ECECB8A4F0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C8F8876-2AC0-4160-9D06-5A0833009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2026/7/28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B3A1188-3907-4640-AB7A-4E5497300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731A29B-C8B1-4731-9D38-04BA36C56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36568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8E586F-971A-4446-A514-6D4F8A8A9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67F0BBB-D5D6-49A4-89D4-30698B028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1CFAE99-05F0-49FD-AC72-2076A3D75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76DD3D5-3508-45F6-9267-D03C865E8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2026/7/28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070F096-E800-4631-BFCC-69C85556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139ADBF-A267-45E0-BA14-CEE7039A8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5550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0E270A-F8E9-4D8E-8CC8-485746931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2786DAA-F4E9-4E09-ABD8-503125C90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930624-3BD1-4EC0-8C37-EE587B10C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2026/7/28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F9712E-EBED-4C30-B61A-9B816C8F8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3C6F30-792E-4909-8021-E4E89E993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8772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E92353B-66FB-4933-9A2A-CE5B88CD69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5C1118D-FAAB-4C2D-B093-2810E2C400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67C014-FA16-44B8-92EC-B55FE44D9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66F85-D4B6-4F6E-B269-52359023089C}" type="datetimeFigureOut">
              <a:rPr lang="zh-TW" altLang="en-US" smtClean="0"/>
              <a:t>2026/7/28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59FFF3E-4495-44DD-94EF-1435240F2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56A6F4-D0EA-44F1-BF51-F514657BC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5527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9072353D-A271-4901-AE1D-A3DCEF1DA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101FA21-3543-4751-9C82-8865389FEC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28AB9A-AC7C-4B9E-9AA6-D8458655E6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66F85-D4B6-4F6E-B269-52359023089C}" type="datetimeFigureOut">
              <a:rPr lang="zh-TW" altLang="en-US" smtClean="0"/>
              <a:t>2026/7/28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DF824E-16F0-4BE1-8BCB-71B2359B26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79DF8D-34C9-4340-A197-6B00CD1D6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E4F2C-B20E-4AEF-A032-6610216F5B3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6895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8E25F-9E0A-CBBB-21BF-7605C08FF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342F7769-13E8-FB1E-883F-835CB748D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951" y="1212244"/>
            <a:ext cx="1526069" cy="27997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C1BF16A7-9D49-0CD9-A8F8-3C48630D08EE}"/>
              </a:ext>
            </a:extLst>
          </p:cNvPr>
          <p:cNvSpPr txBox="1"/>
          <p:nvPr/>
        </p:nvSpPr>
        <p:spPr>
          <a:xfrm>
            <a:off x="437821" y="2325857"/>
            <a:ext cx="246095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800" b="1" dirty="0">
                <a:solidFill>
                  <a:srgbClr val="1C4E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鳥松區 </a:t>
            </a:r>
            <a:endParaRPr lang="en-US" altLang="zh-TW" sz="3800" b="1" dirty="0">
              <a:solidFill>
                <a:srgbClr val="1C4E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2E9F361-BEF9-9412-7F65-323389E1B93E}"/>
              </a:ext>
            </a:extLst>
          </p:cNvPr>
          <p:cNvSpPr txBox="1"/>
          <p:nvPr/>
        </p:nvSpPr>
        <p:spPr>
          <a:xfrm>
            <a:off x="360186" y="3114108"/>
            <a:ext cx="460000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水管路</a:t>
            </a:r>
            <a:r>
              <a:rPr lang="zh-TW" altLang="en-US" sz="3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前後巷</a:t>
            </a:r>
            <a:r>
              <a:rPr lang="zh-TW" altLang="en-US" sz="3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都內農地</a:t>
            </a:r>
            <a:endParaRPr lang="en-US" altLang="zh-TW" sz="24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3AA01BB5-99EB-A3A6-65E9-9D24EAE14CDD}"/>
              </a:ext>
            </a:extLst>
          </p:cNvPr>
          <p:cNvSpPr/>
          <p:nvPr/>
        </p:nvSpPr>
        <p:spPr>
          <a:xfrm rot="2799015">
            <a:off x="1637339" y="-1336162"/>
            <a:ext cx="2095500" cy="2095500"/>
          </a:xfrm>
          <a:prstGeom prst="round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sp>
        <p:nvSpPr>
          <p:cNvPr id="12" name="手繪多邊形: 圖案 11">
            <a:extLst>
              <a:ext uri="{FF2B5EF4-FFF2-40B4-BE49-F238E27FC236}">
                <a16:creationId xmlns:a16="http://schemas.microsoft.com/office/drawing/2014/main" id="{D29EE37E-C0E6-D26F-4048-BDBA53B2C1B1}"/>
              </a:ext>
            </a:extLst>
          </p:cNvPr>
          <p:cNvSpPr/>
          <p:nvPr/>
        </p:nvSpPr>
        <p:spPr>
          <a:xfrm>
            <a:off x="548388" y="4386803"/>
            <a:ext cx="1261641" cy="45719"/>
          </a:xfrm>
          <a:custGeom>
            <a:avLst/>
            <a:gdLst>
              <a:gd name="connsiteX0" fmla="*/ 0 w 1944547"/>
              <a:gd name="connsiteY0" fmla="*/ 0 h 0"/>
              <a:gd name="connsiteX1" fmla="*/ 1944547 w 1944547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44547">
                <a:moveTo>
                  <a:pt x="0" y="0"/>
                </a:moveTo>
                <a:lnTo>
                  <a:pt x="1944547" y="0"/>
                </a:lnTo>
              </a:path>
            </a:pathLst>
          </a:custGeom>
          <a:noFill/>
          <a:ln w="76200">
            <a:solidFill>
              <a:srgbClr val="16356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8E3E49A-A695-D97F-90F9-59005F213ED7}"/>
              </a:ext>
            </a:extLst>
          </p:cNvPr>
          <p:cNvSpPr txBox="1"/>
          <p:nvPr/>
        </p:nvSpPr>
        <p:spPr>
          <a:xfrm>
            <a:off x="437820" y="5307813"/>
            <a:ext cx="4513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地坪 </a:t>
            </a:r>
            <a:r>
              <a:rPr lang="en-US" altLang="zh-TW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: 476</a:t>
            </a:r>
            <a:r>
              <a:rPr lang="zh-TW" altLang="en-US" b="1" dirty="0">
                <a:solidFill>
                  <a:srgbClr val="16356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坪</a:t>
            </a:r>
            <a:endParaRPr lang="en-US" altLang="zh-TW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FC8AA564-139C-F425-260B-2A1ABCF3DD1A}"/>
              </a:ext>
            </a:extLst>
          </p:cNvPr>
          <p:cNvSpPr txBox="1"/>
          <p:nvPr/>
        </p:nvSpPr>
        <p:spPr>
          <a:xfrm>
            <a:off x="437821" y="1507803"/>
            <a:ext cx="2406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68032FF-AC8E-4B96-85F0-C24167E51302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4" name="圖片 13" descr="一張含有 螢幕擷取畫面 的圖片&#10;&#10;自動產生的描述">
            <a:extLst>
              <a:ext uri="{FF2B5EF4-FFF2-40B4-BE49-F238E27FC236}">
                <a16:creationId xmlns:a16="http://schemas.microsoft.com/office/drawing/2014/main" id="{406AEFA4-80E8-4A4E-9278-C853A6679D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文字方塊 48">
            <a:extLst>
              <a:ext uri="{FF2B5EF4-FFF2-40B4-BE49-F238E27FC236}">
                <a16:creationId xmlns:a16="http://schemas.microsoft.com/office/drawing/2014/main" id="{331618C2-4ED8-4C03-A1BA-83816E3DF102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7" name="文字方塊 48">
            <a:extLst>
              <a:ext uri="{FF2B5EF4-FFF2-40B4-BE49-F238E27FC236}">
                <a16:creationId xmlns:a16="http://schemas.microsoft.com/office/drawing/2014/main" id="{DBE91E92-3DC8-4F6C-B0C7-82797A42A39D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2D2C904-B5B6-41D0-A8BA-001BC7C9EA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0549" y="2325857"/>
            <a:ext cx="7003630" cy="363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703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4400DE02-9057-4D80-8171-8F7E5884A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8232" y="93258"/>
            <a:ext cx="4690217" cy="6636279"/>
          </a:xfrm>
          <a:prstGeom prst="rect">
            <a:avLst/>
          </a:prstGeom>
        </p:spPr>
      </p:pic>
      <p:sp>
        <p:nvSpPr>
          <p:cNvPr id="28" name="文字方塊 27">
            <a:extLst>
              <a:ext uri="{FF2B5EF4-FFF2-40B4-BE49-F238E27FC236}">
                <a16:creationId xmlns:a16="http://schemas.microsoft.com/office/drawing/2014/main" id="{49FCBEC4-3028-EB72-DE2E-3966AA3A0840}"/>
              </a:ext>
            </a:extLst>
          </p:cNvPr>
          <p:cNvSpPr txBox="1"/>
          <p:nvPr/>
        </p:nvSpPr>
        <p:spPr>
          <a:xfrm>
            <a:off x="1392470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基本資訊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9206AEC-0470-E174-3055-612F751930CD}"/>
              </a:ext>
            </a:extLst>
          </p:cNvPr>
          <p:cNvSpPr txBox="1"/>
          <p:nvPr/>
        </p:nvSpPr>
        <p:spPr>
          <a:xfrm>
            <a:off x="293550" y="3919769"/>
            <a:ext cx="5123959" cy="2210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基地面積：約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476.74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坪</a:t>
            </a:r>
            <a:r>
              <a:rPr lang="zh-TW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（依謄本登記為主）</a:t>
            </a:r>
            <a:endParaRPr lang="en-US" altLang="zh-TW" sz="1200" b="1" dirty="0">
              <a:solidFill>
                <a:schemeClr val="tx1">
                  <a:lumMod val="50000"/>
                  <a:lumOff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使用分區：農業區</a:t>
            </a:r>
            <a:endParaRPr lang="en-US" altLang="zh-TW" sz="1600" b="1" dirty="0">
              <a:solidFill>
                <a:srgbClr val="16356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面寬深度：面寬約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17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米；深度約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88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米</a:t>
            </a:r>
            <a:endParaRPr lang="en-US" altLang="zh-TW" sz="1600" b="1" dirty="0">
              <a:solidFill>
                <a:srgbClr val="16356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臨路：水管路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巷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米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、美山路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77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巷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約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6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米</a:t>
            </a:r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售價：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4576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萬（每坪約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9.6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萬）</a:t>
            </a:r>
            <a:endParaRPr lang="en-US" altLang="zh-TW" sz="16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備註：</a:t>
            </a:r>
            <a:endParaRPr lang="zh-TW" altLang="en-US" sz="1200" b="1" dirty="0">
              <a:solidFill>
                <a:srgbClr val="16356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69BCD28D-6172-E88C-ED94-D8E0B19BC55C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9" name="圖片 18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CB2FC99A-6544-8430-0694-6379C18CE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930E9003-B560-4B8D-C37B-6D9D7BDF8293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0" name="手繪多邊形: 圖案 29">
            <a:extLst>
              <a:ext uri="{FF2B5EF4-FFF2-40B4-BE49-F238E27FC236}">
                <a16:creationId xmlns:a16="http://schemas.microsoft.com/office/drawing/2014/main" id="{93A7FAAA-B15B-F1F0-294D-9A81964D5B6A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5EAA183-AC0C-470C-A78F-3557C8A0001A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3" name="圖片 22" descr="一張含有 螢幕擷取畫面 的圖片&#10;&#10;自動產生的描述">
            <a:extLst>
              <a:ext uri="{FF2B5EF4-FFF2-40B4-BE49-F238E27FC236}">
                <a16:creationId xmlns:a16="http://schemas.microsoft.com/office/drawing/2014/main" id="{37A7658B-53EC-4115-B317-23783C5E14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文字方塊 48">
            <a:extLst>
              <a:ext uri="{FF2B5EF4-FFF2-40B4-BE49-F238E27FC236}">
                <a16:creationId xmlns:a16="http://schemas.microsoft.com/office/drawing/2014/main" id="{D48ED9B5-CFBA-438A-84D7-2A95FF34B384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25" name="文字方塊 48">
            <a:extLst>
              <a:ext uri="{FF2B5EF4-FFF2-40B4-BE49-F238E27FC236}">
                <a16:creationId xmlns:a16="http://schemas.microsoft.com/office/drawing/2014/main" id="{FB46AF16-BF46-4E3E-8DBD-79C7999D4B37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4BD84168-DA34-989E-AA58-AC6E009C50C7}"/>
              </a:ext>
            </a:extLst>
          </p:cNvPr>
          <p:cNvSpPr txBox="1"/>
          <p:nvPr/>
        </p:nvSpPr>
        <p:spPr>
          <a:xfrm>
            <a:off x="5149301" y="1035844"/>
            <a:ext cx="2008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■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鳥松區大腳腿段</a:t>
            </a:r>
            <a:endParaRPr lang="en-US" altLang="zh-TW" sz="1600" b="1" dirty="0">
              <a:solidFill>
                <a:srgbClr val="16356D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1497</a:t>
            </a:r>
            <a:r>
              <a:rPr lang="zh-TW" altLang="en-US" sz="1600" b="1" dirty="0">
                <a:solidFill>
                  <a:srgbClr val="16356D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地號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24D7910B-C35F-420A-88A7-E3FC47B8B0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663" y="1202935"/>
            <a:ext cx="4656879" cy="241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627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4B6F8-4F3B-B767-705B-1E8A72894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5E4B8962-8F14-430F-ACAF-59F3D6B1A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94" y="1066656"/>
            <a:ext cx="10739887" cy="544342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0450D48-109D-4EEB-B089-BEEC63FE6CFE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0" name="圖片 9" descr="一張含有 螢幕擷取畫面 的圖片&#10;&#10;自動產生的描述">
            <a:extLst>
              <a:ext uri="{FF2B5EF4-FFF2-40B4-BE49-F238E27FC236}">
                <a16:creationId xmlns:a16="http://schemas.microsoft.com/office/drawing/2014/main" id="{CCE94352-5FDB-4173-9F86-C4408CB82E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文字方塊 48">
            <a:extLst>
              <a:ext uri="{FF2B5EF4-FFF2-40B4-BE49-F238E27FC236}">
                <a16:creationId xmlns:a16="http://schemas.microsoft.com/office/drawing/2014/main" id="{48236D25-6F15-4F6A-B3EB-0C38B1C712EB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2" name="文字方塊 48">
            <a:extLst>
              <a:ext uri="{FF2B5EF4-FFF2-40B4-BE49-F238E27FC236}">
                <a16:creationId xmlns:a16="http://schemas.microsoft.com/office/drawing/2014/main" id="{11DA7620-7D4A-4110-9836-1A116B08D65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F17DD2EB-7810-94C0-3B22-ECAF43C5F140}"/>
              </a:ext>
            </a:extLst>
          </p:cNvPr>
          <p:cNvSpPr txBox="1"/>
          <p:nvPr/>
        </p:nvSpPr>
        <p:spPr>
          <a:xfrm>
            <a:off x="1246846" y="520865"/>
            <a:ext cx="20425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交通區位</a:t>
            </a: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73F16807-1D7B-E962-413F-C57340FA5A4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5" name="圖片 4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8EFBBA36-F364-1C92-4D41-364C51DCB2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74B51E3A-23C5-EF1D-4ECA-158DF1D99A5E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7" name="手繪多邊形: 圖案 6">
            <a:extLst>
              <a:ext uri="{FF2B5EF4-FFF2-40B4-BE49-F238E27FC236}">
                <a16:creationId xmlns:a16="http://schemas.microsoft.com/office/drawing/2014/main" id="{DD005A58-D70F-9B28-CA9C-C413FF007896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9E8E5CAB-42AE-4531-8C3A-F672E96B0665}"/>
              </a:ext>
            </a:extLst>
          </p:cNvPr>
          <p:cNvSpPr/>
          <p:nvPr/>
        </p:nvSpPr>
        <p:spPr>
          <a:xfrm>
            <a:off x="5658027" y="6151790"/>
            <a:ext cx="1527777" cy="621998"/>
          </a:xfrm>
          <a:prstGeom prst="ellipse">
            <a:avLst/>
          </a:prstGeom>
          <a:solidFill>
            <a:srgbClr val="00B05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未來國七</a:t>
            </a:r>
            <a:endParaRPr lang="en-US" altLang="zh-TW" sz="11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defRPr/>
            </a:pPr>
            <a:r>
              <a:rPr lang="zh-TW" altLang="en-US" sz="1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鳳寮交流道</a:t>
            </a:r>
            <a:r>
              <a:rPr lang="en-US" altLang="zh-TW" sz="1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北</a:t>
            </a:r>
            <a:r>
              <a:rPr lang="en-US" altLang="zh-TW" sz="1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1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8EFA59DE-0C48-444E-BFEA-378D888B5D8A}"/>
              </a:ext>
            </a:extLst>
          </p:cNvPr>
          <p:cNvSpPr/>
          <p:nvPr/>
        </p:nvSpPr>
        <p:spPr>
          <a:xfrm>
            <a:off x="1813415" y="918284"/>
            <a:ext cx="1527777" cy="621998"/>
          </a:xfrm>
          <a:prstGeom prst="ellipse">
            <a:avLst/>
          </a:prstGeom>
          <a:solidFill>
            <a:srgbClr val="00B05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未來國七</a:t>
            </a:r>
            <a:endParaRPr lang="en-US" altLang="zh-TW" sz="11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defRPr/>
            </a:pPr>
            <a:r>
              <a:rPr lang="zh-TW" altLang="en-US" sz="11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鳥松交流道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4642FFD-09D8-4ED6-B765-1BC0C8CCFEEA}"/>
              </a:ext>
            </a:extLst>
          </p:cNvPr>
          <p:cNvSpPr/>
          <p:nvPr/>
        </p:nvSpPr>
        <p:spPr>
          <a:xfrm>
            <a:off x="6906764" y="3614419"/>
            <a:ext cx="506323" cy="273225"/>
          </a:xfrm>
          <a:prstGeom prst="rect">
            <a:avLst/>
          </a:prstGeom>
          <a:solidFill>
            <a:srgbClr val="FF0000"/>
          </a:solidFill>
          <a:ln w="25400">
            <a:solidFill>
              <a:srgbClr val="FFFF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標的</a:t>
            </a:r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2B8FB0D0-45D8-431F-9926-6CF0BB0FED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0315" y="3614419"/>
            <a:ext cx="172031" cy="301128"/>
          </a:xfrm>
          <a:prstGeom prst="rect">
            <a:avLst/>
          </a:prstGeom>
        </p:spPr>
      </p:pic>
      <p:pic>
        <p:nvPicPr>
          <p:cNvPr id="34" name="圖片 33">
            <a:extLst>
              <a:ext uri="{FF2B5EF4-FFF2-40B4-BE49-F238E27FC236}">
                <a16:creationId xmlns:a16="http://schemas.microsoft.com/office/drawing/2014/main" id="{26807BE4-C6BA-4683-A0D1-17ACF1A0C7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9217" y="5825183"/>
            <a:ext cx="498810" cy="495045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066AEBDF-0D30-41A3-AB78-3CBE30D192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26601" y="4860997"/>
            <a:ext cx="498810" cy="495045"/>
          </a:xfrm>
          <a:prstGeom prst="rect">
            <a:avLst/>
          </a:prstGeom>
        </p:spPr>
      </p:pic>
      <p:sp>
        <p:nvSpPr>
          <p:cNvPr id="18" name="橢圓 17">
            <a:extLst>
              <a:ext uri="{FF2B5EF4-FFF2-40B4-BE49-F238E27FC236}">
                <a16:creationId xmlns:a16="http://schemas.microsoft.com/office/drawing/2014/main" id="{D29F6425-CF88-455D-B0E3-2DB7AE3468C1}"/>
              </a:ext>
            </a:extLst>
          </p:cNvPr>
          <p:cNvSpPr/>
          <p:nvPr/>
        </p:nvSpPr>
        <p:spPr>
          <a:xfrm>
            <a:off x="3961906" y="5499188"/>
            <a:ext cx="922384" cy="480469"/>
          </a:xfrm>
          <a:prstGeom prst="ellipse">
            <a:avLst/>
          </a:prstGeom>
          <a:solidFill>
            <a:schemeClr val="accent2">
              <a:lumMod val="75000"/>
              <a:alpha val="90000"/>
            </a:schemeClr>
          </a:solidFill>
          <a:ln w="2222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宏森</a:t>
            </a:r>
            <a:endParaRPr lang="en-US" altLang="zh-TW" sz="1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defRPr/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工業城</a:t>
            </a:r>
            <a:endParaRPr lang="en-US" altLang="zh-TW" sz="1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969DDF61-798C-4254-9572-62D19D684E62}"/>
              </a:ext>
            </a:extLst>
          </p:cNvPr>
          <p:cNvSpPr/>
          <p:nvPr/>
        </p:nvSpPr>
        <p:spPr>
          <a:xfrm>
            <a:off x="4730823" y="4739165"/>
            <a:ext cx="927204" cy="514690"/>
          </a:xfrm>
          <a:prstGeom prst="ellipse">
            <a:avLst/>
          </a:prstGeom>
          <a:solidFill>
            <a:schemeClr val="accent2">
              <a:lumMod val="75000"/>
              <a:alpha val="90000"/>
            </a:schemeClr>
          </a:solidFill>
          <a:ln w="22225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華鳳</a:t>
            </a:r>
            <a:endParaRPr lang="en-US" altLang="zh-TW" sz="1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>
              <a:defRPr/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工業城</a:t>
            </a:r>
            <a:endParaRPr lang="en-US" altLang="zh-TW" sz="1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3301F260-17BF-4AD6-9B2A-1F75F03EA8AC}"/>
              </a:ext>
            </a:extLst>
          </p:cNvPr>
          <p:cNvSpPr/>
          <p:nvPr/>
        </p:nvSpPr>
        <p:spPr>
          <a:xfrm rot="14926793">
            <a:off x="2298274" y="2268800"/>
            <a:ext cx="608961" cy="469127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6430B29A-F81E-4E5A-BEB9-BDA478375F8F}"/>
              </a:ext>
            </a:extLst>
          </p:cNvPr>
          <p:cNvSpPr/>
          <p:nvPr/>
        </p:nvSpPr>
        <p:spPr>
          <a:xfrm rot="1303948">
            <a:off x="8491579" y="3383052"/>
            <a:ext cx="608961" cy="469127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BCDE163E-CD02-4955-B216-8090F83D73A4}"/>
              </a:ext>
            </a:extLst>
          </p:cNvPr>
          <p:cNvSpPr/>
          <p:nvPr/>
        </p:nvSpPr>
        <p:spPr>
          <a:xfrm>
            <a:off x="3657424" y="895053"/>
            <a:ext cx="608961" cy="469127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621AB31D-F016-47B2-A436-E4997E5EA989}"/>
              </a:ext>
            </a:extLst>
          </p:cNvPr>
          <p:cNvSpPr/>
          <p:nvPr/>
        </p:nvSpPr>
        <p:spPr>
          <a:xfrm rot="19981812">
            <a:off x="3519962" y="5810349"/>
            <a:ext cx="608961" cy="469127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765CDDD9-8431-4BF0-A731-8524404C59CB}"/>
              </a:ext>
            </a:extLst>
          </p:cNvPr>
          <p:cNvSpPr/>
          <p:nvPr/>
        </p:nvSpPr>
        <p:spPr>
          <a:xfrm rot="19981812">
            <a:off x="6117434" y="4208503"/>
            <a:ext cx="608961" cy="469127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2CB19FB5-867A-41DA-AE63-E2524F6F8772}"/>
              </a:ext>
            </a:extLst>
          </p:cNvPr>
          <p:cNvSpPr/>
          <p:nvPr/>
        </p:nvSpPr>
        <p:spPr>
          <a:xfrm rot="1228155">
            <a:off x="5875835" y="3065252"/>
            <a:ext cx="608961" cy="469127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3064BAC7-8D76-4147-8AC5-005D9D4A8B20}"/>
              </a:ext>
            </a:extLst>
          </p:cNvPr>
          <p:cNvSpPr/>
          <p:nvPr/>
        </p:nvSpPr>
        <p:spPr>
          <a:xfrm rot="16554879">
            <a:off x="7494035" y="3850669"/>
            <a:ext cx="608961" cy="469127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C080C1A0-1C17-4759-BAFA-6552CA457283}"/>
              </a:ext>
            </a:extLst>
          </p:cNvPr>
          <p:cNvSpPr/>
          <p:nvPr/>
        </p:nvSpPr>
        <p:spPr>
          <a:xfrm>
            <a:off x="1904389" y="4914724"/>
            <a:ext cx="608961" cy="469127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6570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F82D-7E30-FA66-099D-45E80E07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5431DB8D-220A-BB93-E6E5-AC615C7B8F2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7" name="圖片 26" descr="一張含有 螢幕擷取畫面 的圖片&#10;&#10;自動產生的描述">
            <a:extLst>
              <a:ext uri="{FF2B5EF4-FFF2-40B4-BE49-F238E27FC236}">
                <a16:creationId xmlns:a16="http://schemas.microsoft.com/office/drawing/2014/main" id="{47263338-A016-5D9C-3403-F3AACECAF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文字方塊 48">
            <a:extLst>
              <a:ext uri="{FF2B5EF4-FFF2-40B4-BE49-F238E27FC236}">
                <a16:creationId xmlns:a16="http://schemas.microsoft.com/office/drawing/2014/main" id="{4ABA57DF-EF5C-BF3C-6354-A6CC10056ABD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30" name="文字方塊 48">
            <a:extLst>
              <a:ext uri="{FF2B5EF4-FFF2-40B4-BE49-F238E27FC236}">
                <a16:creationId xmlns:a16="http://schemas.microsoft.com/office/drawing/2014/main" id="{3E1FB5F0-4B6F-B939-37B9-A7347393450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3B5174D-C0D3-273C-6FBB-4B636B221F90}"/>
              </a:ext>
            </a:extLst>
          </p:cNvPr>
          <p:cNvSpPr txBox="1"/>
          <p:nvPr/>
        </p:nvSpPr>
        <p:spPr>
          <a:xfrm>
            <a:off x="1400937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照片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80FE238-AB96-C3B3-BB9C-08CC66E90A5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2" name="圖片 11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F48EC4EE-0C6A-967E-F7F1-6BB31C3CE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0E7BF68-F266-26B9-7097-CA11C207A2FA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8B4119C7-AD1F-CA62-E888-20758EBF357B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970E13CC-CCA2-4E9E-A411-6A9B4B3DED45}"/>
              </a:ext>
            </a:extLst>
          </p:cNvPr>
          <p:cNvGrpSpPr/>
          <p:nvPr/>
        </p:nvGrpSpPr>
        <p:grpSpPr>
          <a:xfrm>
            <a:off x="944610" y="1080322"/>
            <a:ext cx="10262572" cy="5342518"/>
            <a:chOff x="944610" y="1080322"/>
            <a:chExt cx="10262572" cy="5342518"/>
          </a:xfrm>
        </p:grpSpPr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AF6C211F-C5E3-48E2-883F-15CF983A3D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4610" y="1080322"/>
              <a:ext cx="10262572" cy="5342518"/>
            </a:xfrm>
            <a:prstGeom prst="rect">
              <a:avLst/>
            </a:prstGeom>
          </p:spPr>
        </p:pic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41AFEC95-37BF-4DAC-B3AF-2FB92DB3F9DC}"/>
                </a:ext>
              </a:extLst>
            </p:cNvPr>
            <p:cNvSpPr txBox="1"/>
            <p:nvPr/>
          </p:nvSpPr>
          <p:spPr>
            <a:xfrm rot="2061028">
              <a:off x="9751442" y="4089955"/>
              <a:ext cx="1363133" cy="30777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水管路</a:t>
              </a:r>
              <a:r>
                <a:rPr lang="en-US" altLang="zh-TW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(9</a:t>
              </a:r>
              <a:r>
                <a:rPr lang="zh-TW" altLang="en-US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米</a:t>
              </a:r>
              <a:r>
                <a:rPr lang="en-US" altLang="zh-TW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endPara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05259AE1-E45F-4BD8-BAA3-42C51F9F60A9}"/>
                </a:ext>
              </a:extLst>
            </p:cNvPr>
            <p:cNvSpPr txBox="1"/>
            <p:nvPr/>
          </p:nvSpPr>
          <p:spPr>
            <a:xfrm rot="19071006">
              <a:off x="1628217" y="4530009"/>
              <a:ext cx="1541343" cy="30777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美山路</a:t>
              </a:r>
              <a:r>
                <a:rPr lang="en-US" altLang="zh-TW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77</a:t>
              </a:r>
              <a:r>
                <a:rPr lang="zh-TW" altLang="en-US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巷</a:t>
              </a:r>
              <a:r>
                <a:rPr lang="en-US" altLang="zh-TW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(6</a:t>
              </a:r>
              <a:r>
                <a:rPr lang="zh-TW" altLang="en-US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米</a:t>
              </a:r>
              <a:r>
                <a:rPr lang="en-US" altLang="zh-TW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endPara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33CC8695-17CD-4143-A5F9-EFF17DCBBD17}"/>
                </a:ext>
              </a:extLst>
            </p:cNvPr>
            <p:cNvSpPr txBox="1"/>
            <p:nvPr/>
          </p:nvSpPr>
          <p:spPr>
            <a:xfrm rot="19094723">
              <a:off x="5128498" y="5879369"/>
              <a:ext cx="1541343" cy="30777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水管路</a:t>
              </a:r>
              <a:r>
                <a:rPr lang="en-US" altLang="zh-TW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9</a:t>
              </a:r>
              <a:r>
                <a:rPr lang="zh-TW" altLang="en-US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巷</a:t>
              </a:r>
              <a:r>
                <a:rPr lang="en-US" altLang="zh-TW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(6</a:t>
              </a:r>
              <a:r>
                <a:rPr lang="zh-TW" altLang="en-US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米</a:t>
              </a:r>
              <a:r>
                <a:rPr lang="en-US" altLang="zh-TW" sz="1400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endParaRPr lang="zh-TW" altLang="en-US" sz="14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B428CAFF-B801-40DD-842F-B68BF13E7EE7}"/>
                </a:ext>
              </a:extLst>
            </p:cNvPr>
            <p:cNvSpPr/>
            <p:nvPr/>
          </p:nvSpPr>
          <p:spPr>
            <a:xfrm>
              <a:off x="4554747" y="2544792"/>
              <a:ext cx="2493034" cy="2743200"/>
            </a:xfrm>
            <a:custGeom>
              <a:avLst/>
              <a:gdLst>
                <a:gd name="connsiteX0" fmla="*/ 0 w 2493034"/>
                <a:gd name="connsiteY0" fmla="*/ 422695 h 2743200"/>
                <a:gd name="connsiteX1" fmla="*/ 2035834 w 2493034"/>
                <a:gd name="connsiteY1" fmla="*/ 2743200 h 2743200"/>
                <a:gd name="connsiteX2" fmla="*/ 2493034 w 2493034"/>
                <a:gd name="connsiteY2" fmla="*/ 2380891 h 2743200"/>
                <a:gd name="connsiteX3" fmla="*/ 353683 w 2493034"/>
                <a:gd name="connsiteY3" fmla="*/ 0 h 2743200"/>
                <a:gd name="connsiteX4" fmla="*/ 0 w 2493034"/>
                <a:gd name="connsiteY4" fmla="*/ 422695 h 2743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93034" h="2743200">
                  <a:moveTo>
                    <a:pt x="0" y="422695"/>
                  </a:moveTo>
                  <a:lnTo>
                    <a:pt x="2035834" y="2743200"/>
                  </a:lnTo>
                  <a:lnTo>
                    <a:pt x="2493034" y="2380891"/>
                  </a:lnTo>
                  <a:lnTo>
                    <a:pt x="353683" y="0"/>
                  </a:lnTo>
                  <a:lnTo>
                    <a:pt x="0" y="422695"/>
                  </a:lnTo>
                  <a:close/>
                </a:path>
              </a:pathLst>
            </a:custGeom>
            <a:noFill/>
            <a:ln w="31750">
              <a:solidFill>
                <a:srgbClr val="FFFF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12061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F82D-7E30-FA66-099D-45E80E07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5431DB8D-220A-BB93-E6E5-AC615C7B8F2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7" name="圖片 26" descr="一張含有 螢幕擷取畫面 的圖片&#10;&#10;自動產生的描述">
            <a:extLst>
              <a:ext uri="{FF2B5EF4-FFF2-40B4-BE49-F238E27FC236}">
                <a16:creationId xmlns:a16="http://schemas.microsoft.com/office/drawing/2014/main" id="{47263338-A016-5D9C-3403-F3AACECAF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文字方塊 48">
            <a:extLst>
              <a:ext uri="{FF2B5EF4-FFF2-40B4-BE49-F238E27FC236}">
                <a16:creationId xmlns:a16="http://schemas.microsoft.com/office/drawing/2014/main" id="{4ABA57DF-EF5C-BF3C-6354-A6CC10056ABD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30" name="文字方塊 48">
            <a:extLst>
              <a:ext uri="{FF2B5EF4-FFF2-40B4-BE49-F238E27FC236}">
                <a16:creationId xmlns:a16="http://schemas.microsoft.com/office/drawing/2014/main" id="{3E1FB5F0-4B6F-B939-37B9-A7347393450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3B5174D-C0D3-273C-6FBB-4B636B221F90}"/>
              </a:ext>
            </a:extLst>
          </p:cNvPr>
          <p:cNvSpPr txBox="1"/>
          <p:nvPr/>
        </p:nvSpPr>
        <p:spPr>
          <a:xfrm>
            <a:off x="1400937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照片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80FE238-AB96-C3B3-BB9C-08CC66E90A5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2" name="圖片 11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F48EC4EE-0C6A-967E-F7F1-6BB31C3CE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0E7BF68-F266-26B9-7097-CA11C207A2FA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8B4119C7-AD1F-CA62-E888-20758EBF357B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A821C13-2240-4DD1-AB90-8B0317F857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8783" y="2704789"/>
            <a:ext cx="7370244" cy="372263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95EDB4A-77C2-42EC-9E10-2BF6E7BAE4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973" y="1263017"/>
            <a:ext cx="6571291" cy="338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802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1F82D-7E30-FA66-099D-45E80E07A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5431DB8D-220A-BB93-E6E5-AC615C7B8F2F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27" name="圖片 26" descr="一張含有 螢幕擷取畫面 的圖片&#10;&#10;自動產生的描述">
            <a:extLst>
              <a:ext uri="{FF2B5EF4-FFF2-40B4-BE49-F238E27FC236}">
                <a16:creationId xmlns:a16="http://schemas.microsoft.com/office/drawing/2014/main" id="{47263338-A016-5D9C-3403-F3AACECAF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" name="文字方塊 48">
            <a:extLst>
              <a:ext uri="{FF2B5EF4-FFF2-40B4-BE49-F238E27FC236}">
                <a16:creationId xmlns:a16="http://schemas.microsoft.com/office/drawing/2014/main" id="{4ABA57DF-EF5C-BF3C-6354-A6CC10056ABD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30" name="文字方塊 48">
            <a:extLst>
              <a:ext uri="{FF2B5EF4-FFF2-40B4-BE49-F238E27FC236}">
                <a16:creationId xmlns:a16="http://schemas.microsoft.com/office/drawing/2014/main" id="{3E1FB5F0-4B6F-B939-37B9-A7347393450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3B5174D-C0D3-273C-6FBB-4B636B221F90}"/>
              </a:ext>
            </a:extLst>
          </p:cNvPr>
          <p:cNvSpPr txBox="1"/>
          <p:nvPr/>
        </p:nvSpPr>
        <p:spPr>
          <a:xfrm>
            <a:off x="1400937" y="538374"/>
            <a:ext cx="1893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照片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80FE238-AB96-C3B3-BB9C-08CC66E90A51}"/>
              </a:ext>
            </a:extLst>
          </p:cNvPr>
          <p:cNvSpPr/>
          <p:nvPr/>
        </p:nvSpPr>
        <p:spPr>
          <a:xfrm rot="2799015">
            <a:off x="293861" y="-546437"/>
            <a:ext cx="1420894" cy="1420894"/>
          </a:xfrm>
          <a:prstGeom prst="roundRect">
            <a:avLst/>
          </a:prstGeom>
          <a:solidFill>
            <a:srgbClr val="00216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2" name="圖片 11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F48EC4EE-0C6A-967E-F7F1-6BB31C3CE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58" y="82412"/>
            <a:ext cx="903704" cy="16585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00E7BF68-F266-26B9-7097-CA11C207A2FA}"/>
              </a:ext>
            </a:extLst>
          </p:cNvPr>
          <p:cNvSpPr txBox="1"/>
          <p:nvPr/>
        </p:nvSpPr>
        <p:spPr>
          <a:xfrm>
            <a:off x="337269" y="282884"/>
            <a:ext cx="133407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sz="1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sz="1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手繪多邊形: 圖案 13">
            <a:extLst>
              <a:ext uri="{FF2B5EF4-FFF2-40B4-BE49-F238E27FC236}">
                <a16:creationId xmlns:a16="http://schemas.microsoft.com/office/drawing/2014/main" id="{8B4119C7-AD1F-CA62-E888-20758EBF357B}"/>
              </a:ext>
            </a:extLst>
          </p:cNvPr>
          <p:cNvSpPr/>
          <p:nvPr/>
        </p:nvSpPr>
        <p:spPr>
          <a:xfrm>
            <a:off x="1343025" y="1035844"/>
            <a:ext cx="1850231" cy="0"/>
          </a:xfrm>
          <a:custGeom>
            <a:avLst/>
            <a:gdLst>
              <a:gd name="connsiteX0" fmla="*/ 0 w 1850231"/>
              <a:gd name="connsiteY0" fmla="*/ 0 h 0"/>
              <a:gd name="connsiteX1" fmla="*/ 1850231 w 1850231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50231">
                <a:moveTo>
                  <a:pt x="0" y="0"/>
                </a:moveTo>
                <a:lnTo>
                  <a:pt x="1850231" y="0"/>
                </a:lnTo>
              </a:path>
            </a:pathLst>
          </a:cu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207BA0D-6545-4F2C-AEB6-9FC2E4C87A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116" y="1876225"/>
            <a:ext cx="5493085" cy="3418151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3A020D8-F3C1-4EC9-AD73-6B0145D398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2295" y="1876225"/>
            <a:ext cx="5944905" cy="341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759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文字方塊 12">
            <a:extLst>
              <a:ext uri="{FF2B5EF4-FFF2-40B4-BE49-F238E27FC236}">
                <a16:creationId xmlns:a16="http://schemas.microsoft.com/office/drawing/2014/main" id="{9A8F9F0C-CBB3-49C2-AECD-ACFC6980F3FE}"/>
              </a:ext>
            </a:extLst>
          </p:cNvPr>
          <p:cNvSpPr txBox="1"/>
          <p:nvPr/>
        </p:nvSpPr>
        <p:spPr>
          <a:xfrm>
            <a:off x="4831828" y="3047840"/>
            <a:ext cx="7094637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2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位於鳥松核心區，大腳腿段區域機能成熟</a:t>
            </a: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22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前後巷</a:t>
            </a: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；自用或投資皆可，水管路旁</a:t>
            </a:r>
            <a:endParaRPr lang="en-US" altLang="zh-TW" sz="22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TW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分鐘上未來國七鳥松交流道，超便利</a:t>
            </a:r>
          </a:p>
          <a:p>
            <a:pPr marL="342900" indent="-342900">
              <a:spcBef>
                <a:spcPts val="3000"/>
              </a:spcBef>
              <a:buFont typeface="Arial" panose="020B0604020202020204" pitchFamily="34" charset="0"/>
              <a:buChar char="•"/>
              <a:defRPr/>
            </a:pPr>
            <a:r>
              <a:rPr lang="zh-TW" altLang="en-US" sz="2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至市區、鳳山、仁武、大寮、大樹 皆方便</a:t>
            </a:r>
          </a:p>
        </p:txBody>
      </p:sp>
      <p:pic>
        <p:nvPicPr>
          <p:cNvPr id="6" name="圖片 5" descr="一張含有 文字, 字型, 圖形, 平面設計 的圖片&#10;&#10;AI 產生的內容可能不正確。">
            <a:extLst>
              <a:ext uri="{FF2B5EF4-FFF2-40B4-BE49-F238E27FC236}">
                <a16:creationId xmlns:a16="http://schemas.microsoft.com/office/drawing/2014/main" id="{02BAA14F-6DC4-6480-3F80-1366EB0CB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51" y="1212244"/>
            <a:ext cx="1526069" cy="27997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F72C1BD5-48EB-B90E-ECF6-4587A8D641E9}"/>
              </a:ext>
            </a:extLst>
          </p:cNvPr>
          <p:cNvSpPr txBox="1"/>
          <p:nvPr/>
        </p:nvSpPr>
        <p:spPr>
          <a:xfrm>
            <a:off x="589680" y="2261508"/>
            <a:ext cx="2460955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TW" altLang="en-US" sz="3800" b="1" dirty="0">
                <a:solidFill>
                  <a:srgbClr val="1C4E6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投資亮點</a:t>
            </a:r>
            <a:endParaRPr lang="en-US" altLang="zh-TW" sz="3800" b="1" dirty="0">
              <a:solidFill>
                <a:srgbClr val="1C4E6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283976E9-D898-FF40-43EC-5D35F8C2F902}"/>
              </a:ext>
            </a:extLst>
          </p:cNvPr>
          <p:cNvSpPr/>
          <p:nvPr/>
        </p:nvSpPr>
        <p:spPr>
          <a:xfrm rot="2799015">
            <a:off x="1637339" y="-1336162"/>
            <a:ext cx="2095500" cy="2095500"/>
          </a:xfrm>
          <a:prstGeom prst="round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5A800D9-BC5D-E489-89E9-960E9F683A5E}"/>
              </a:ext>
            </a:extLst>
          </p:cNvPr>
          <p:cNvSpPr txBox="1"/>
          <p:nvPr/>
        </p:nvSpPr>
        <p:spPr>
          <a:xfrm>
            <a:off x="437821" y="1507803"/>
            <a:ext cx="24063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>
              <a:defRPr/>
            </a:pPr>
            <a:r>
              <a:rPr lang="zh-TW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富住通大型工業地產</a:t>
            </a:r>
            <a:endParaRPr lang="en-US" altLang="zh-TW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手繪多邊形: 圖案 10">
            <a:extLst>
              <a:ext uri="{FF2B5EF4-FFF2-40B4-BE49-F238E27FC236}">
                <a16:creationId xmlns:a16="http://schemas.microsoft.com/office/drawing/2014/main" id="{0EE9D13D-D700-8EC1-88E4-898CC2AF7098}"/>
              </a:ext>
            </a:extLst>
          </p:cNvPr>
          <p:cNvSpPr/>
          <p:nvPr/>
        </p:nvSpPr>
        <p:spPr>
          <a:xfrm flipV="1">
            <a:off x="2903681" y="2565772"/>
            <a:ext cx="1414395" cy="62279"/>
          </a:xfrm>
          <a:custGeom>
            <a:avLst/>
            <a:gdLst>
              <a:gd name="connsiteX0" fmla="*/ 0 w 3901440"/>
              <a:gd name="connsiteY0" fmla="*/ 0 h 0"/>
              <a:gd name="connsiteX1" fmla="*/ 3901440 w 390144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901440">
                <a:moveTo>
                  <a:pt x="0" y="0"/>
                </a:moveTo>
                <a:lnTo>
                  <a:pt x="3901440" y="0"/>
                </a:ln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7BD01A1-7AFC-4711-AE47-386F54FD605B}"/>
              </a:ext>
            </a:extLst>
          </p:cNvPr>
          <p:cNvSpPr/>
          <p:nvPr/>
        </p:nvSpPr>
        <p:spPr>
          <a:xfrm>
            <a:off x="0" y="6488667"/>
            <a:ext cx="12192000" cy="369332"/>
          </a:xfrm>
          <a:prstGeom prst="rect">
            <a:avLst/>
          </a:prstGeom>
          <a:solidFill>
            <a:srgbClr val="002160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863"/>
          </a:p>
        </p:txBody>
      </p:sp>
      <p:pic>
        <p:nvPicPr>
          <p:cNvPr id="14" name="圖片 13" descr="一張含有 螢幕擷取畫面 的圖片&#10;&#10;自動產生的描述">
            <a:extLst>
              <a:ext uri="{FF2B5EF4-FFF2-40B4-BE49-F238E27FC236}">
                <a16:creationId xmlns:a16="http://schemas.microsoft.com/office/drawing/2014/main" id="{2292E612-01D1-45F4-AB43-9A941F3E7B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399" t="4326" r="1701" b="77562"/>
          <a:stretch/>
        </p:blipFill>
        <p:spPr bwMode="auto">
          <a:xfrm>
            <a:off x="288246" y="6545749"/>
            <a:ext cx="180835" cy="2310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文字方塊 48">
            <a:extLst>
              <a:ext uri="{FF2B5EF4-FFF2-40B4-BE49-F238E27FC236}">
                <a16:creationId xmlns:a16="http://schemas.microsoft.com/office/drawing/2014/main" id="{90BABE7C-8E87-4B4E-821F-5D343EA6C56A}"/>
              </a:ext>
            </a:extLst>
          </p:cNvPr>
          <p:cNvSpPr txBox="1"/>
          <p:nvPr/>
        </p:nvSpPr>
        <p:spPr>
          <a:xfrm>
            <a:off x="548071" y="6513790"/>
            <a:ext cx="7410596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富住通商用不動產大型工業地產團隊    </a:t>
            </a:r>
            <a:r>
              <a:rPr lang="en-US" altLang="zh-TW" sz="12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FULL  LIFE  COMMERCIAL  REAL  ESTATE  SERVICE</a:t>
            </a:r>
          </a:p>
        </p:txBody>
      </p:sp>
      <p:sp>
        <p:nvSpPr>
          <p:cNvPr id="16" name="文字方塊 48">
            <a:extLst>
              <a:ext uri="{FF2B5EF4-FFF2-40B4-BE49-F238E27FC236}">
                <a16:creationId xmlns:a16="http://schemas.microsoft.com/office/drawing/2014/main" id="{60028E4E-AF57-4DBE-B1D6-5DBEB84B6F4E}"/>
              </a:ext>
            </a:extLst>
          </p:cNvPr>
          <p:cNvSpPr txBox="1"/>
          <p:nvPr/>
        </p:nvSpPr>
        <p:spPr>
          <a:xfrm>
            <a:off x="8796059" y="6507395"/>
            <a:ext cx="22962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關懷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文化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家庭 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‧  </a:t>
            </a:r>
            <a:r>
              <a:rPr lang="zh-TW" altLang="en-US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國際</a:t>
            </a:r>
            <a:endParaRPr lang="en-US" altLang="zh-TW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9A784B12-87AA-42A9-AF16-EFE7D0E7B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587" y="3159779"/>
            <a:ext cx="4037623" cy="230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919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4527</TotalTime>
  <Words>390</Words>
  <Application>Microsoft Office PowerPoint</Application>
  <PresentationFormat>寬螢幕</PresentationFormat>
  <Paragraphs>55</Paragraphs>
  <Slides>7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4" baseType="lpstr">
      <vt:lpstr>Microsoft YaHei</vt:lpstr>
      <vt:lpstr>微軟正黑體</vt:lpstr>
      <vt:lpstr>Arial</vt:lpstr>
      <vt:lpstr>Calibri</vt:lpstr>
      <vt:lpstr>Calibri Light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Mason</dc:creator>
  <cp:lastModifiedBy>偉忠 張</cp:lastModifiedBy>
  <cp:revision>408</cp:revision>
  <cp:lastPrinted>2026-07-28T13:59:02Z</cp:lastPrinted>
  <dcterms:created xsi:type="dcterms:W3CDTF">2021-08-28T02:07:24Z</dcterms:created>
  <dcterms:modified xsi:type="dcterms:W3CDTF">2026-07-28T14:39:31Z</dcterms:modified>
</cp:coreProperties>
</file>