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15" r:id="rId3"/>
    <p:sldId id="387" r:id="rId4"/>
    <p:sldId id="388" r:id="rId5"/>
    <p:sldId id="389" r:id="rId6"/>
    <p:sldId id="374" r:id="rId7"/>
    <p:sldId id="372" r:id="rId8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9CA4"/>
    <a:srgbClr val="4E668E"/>
    <a:srgbClr val="ECECEC"/>
    <a:srgbClr val="D9D9D9"/>
    <a:srgbClr val="7F7F7F"/>
    <a:srgbClr val="FAEFED"/>
    <a:srgbClr val="F3F2F1"/>
    <a:srgbClr val="FFE699"/>
    <a:srgbClr val="E1E1E1"/>
    <a:srgbClr val="1A22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0" tIns="49520" rIns="99040" bIns="49520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0" tIns="49520" rIns="99040" bIns="49520" rtlCol="0"/>
          <a:lstStyle>
            <a:lvl1pPr algn="r">
              <a:defRPr sz="1300"/>
            </a:lvl1pPr>
          </a:lstStyle>
          <a:p>
            <a:fld id="{B153081E-070E-498F-8628-71D75274AD45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0" tIns="49520" rIns="99040" bIns="495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40" tIns="49520" rIns="99040" bIns="495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0" tIns="49520" rIns="99040" bIns="49520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0" tIns="49520" rIns="99040" bIns="49520" rtlCol="0" anchor="b"/>
          <a:lstStyle>
            <a:lvl1pPr algn="r">
              <a:defRPr sz="13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26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95EEEF2-73B7-417C-8FEC-06C06FF135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1">
                <a:lumMod val="50000"/>
                <a:lumOff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682"/>
          <a:stretch/>
        </p:blipFill>
        <p:spPr>
          <a:xfrm>
            <a:off x="3276599" y="0"/>
            <a:ext cx="8915401" cy="6858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CF8273C-CB38-4C87-822A-6F0322C5EA86}"/>
              </a:ext>
            </a:extLst>
          </p:cNvPr>
          <p:cNvSpPr/>
          <p:nvPr/>
        </p:nvSpPr>
        <p:spPr>
          <a:xfrm>
            <a:off x="0" y="0"/>
            <a:ext cx="3276599" cy="685800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88D62F-0F09-4C4A-A911-052041CB8D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D67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B9F0752-3F10-454B-9CBD-058EA669CAF1}"/>
              </a:ext>
            </a:extLst>
          </p:cNvPr>
          <p:cNvSpPr txBox="1"/>
          <p:nvPr/>
        </p:nvSpPr>
        <p:spPr>
          <a:xfrm>
            <a:off x="375707" y="938273"/>
            <a:ext cx="446299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14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仁武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A97FFC6-ECEC-4E34-A48D-EA8F0F27ECC1}"/>
              </a:ext>
            </a:extLst>
          </p:cNvPr>
          <p:cNvSpPr txBox="1"/>
          <p:nvPr/>
        </p:nvSpPr>
        <p:spPr>
          <a:xfrm>
            <a:off x="433450" y="3061419"/>
            <a:ext cx="589834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近仁武產業園區丁建廠房</a:t>
            </a:r>
            <a:endParaRPr lang="en-US" altLang="zh-TW" sz="24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地坪：約</a:t>
            </a:r>
            <a:r>
              <a:rPr lang="en-US" altLang="zh-TW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330</a:t>
            </a: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endParaRPr lang="en-US" altLang="zh-TW" sz="2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建坪：約</a:t>
            </a:r>
            <a:r>
              <a:rPr lang="en-US" altLang="zh-TW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147</a:t>
            </a: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endParaRPr lang="en-US" altLang="zh-TW" sz="2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含未保存登記，總計約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250</a:t>
            </a:r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en-US" altLang="zh-TW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7B89CA-DF2B-44EE-8570-24B60CF12BC9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螢幕擷取畫面 的圖片&#10;&#10;自動產生的描述">
            <a:extLst>
              <a:ext uri="{FF2B5EF4-FFF2-40B4-BE49-F238E27FC236}">
                <a16:creationId xmlns:a16="http://schemas.microsoft.com/office/drawing/2014/main" id="{650EB18F-E958-434C-A9BB-C3074D1D5F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文字方塊 48">
            <a:extLst>
              <a:ext uri="{FF2B5EF4-FFF2-40B4-BE49-F238E27FC236}">
                <a16:creationId xmlns:a16="http://schemas.microsoft.com/office/drawing/2014/main" id="{81A40962-ED7E-469D-BF13-221F6C0A27A1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2" name="文字方塊 48">
            <a:extLst>
              <a:ext uri="{FF2B5EF4-FFF2-40B4-BE49-F238E27FC236}">
                <a16:creationId xmlns:a16="http://schemas.microsoft.com/office/drawing/2014/main" id="{EA04D398-5510-42C0-905D-841D89B68AEC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EDD8985-9120-4829-BCEA-0444AD9F0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491" y="1056503"/>
            <a:ext cx="5573383" cy="313561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A6603D55-6983-4B09-99EA-BA82B28211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4182" y="2061657"/>
            <a:ext cx="243996" cy="42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7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6F9EDB-E976-491B-B085-47567F5BEFB4}"/>
              </a:ext>
            </a:extLst>
          </p:cNvPr>
          <p:cNvSpPr/>
          <p:nvPr/>
        </p:nvSpPr>
        <p:spPr>
          <a:xfrm>
            <a:off x="0" y="0"/>
            <a:ext cx="12207369" cy="685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F35DDC-061C-40E6-A8EB-86A058F3622B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螢幕擷取畫面 的圖片&#10;&#10;自動產生的描述">
            <a:extLst>
              <a:ext uri="{FF2B5EF4-FFF2-40B4-BE49-F238E27FC236}">
                <a16:creationId xmlns:a16="http://schemas.microsoft.com/office/drawing/2014/main" id="{076DFB7F-855F-457D-8E96-8A19540EC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文字方塊 48">
            <a:extLst>
              <a:ext uri="{FF2B5EF4-FFF2-40B4-BE49-F238E27FC236}">
                <a16:creationId xmlns:a16="http://schemas.microsoft.com/office/drawing/2014/main" id="{B8C280D5-6596-44EE-8482-A4DB7D453C55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1" name="文字方塊 48">
            <a:extLst>
              <a:ext uri="{FF2B5EF4-FFF2-40B4-BE49-F238E27FC236}">
                <a16:creationId xmlns:a16="http://schemas.microsoft.com/office/drawing/2014/main" id="{33ED31E3-4F36-42CF-A81B-954121BEF305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9BC92191-FF84-4CCC-A00F-6D594A0F8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" y="6501417"/>
            <a:ext cx="569325" cy="46551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A94A7441-4541-4EB6-836C-D2BE9978CB2B}"/>
              </a:ext>
            </a:extLst>
          </p:cNvPr>
          <p:cNvSpPr/>
          <p:nvPr/>
        </p:nvSpPr>
        <p:spPr>
          <a:xfrm>
            <a:off x="-12179" y="3226494"/>
            <a:ext cx="6157705" cy="44181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仁武區林山巷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仁義段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806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600" b="1" i="0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烏林段 </a:t>
            </a:r>
            <a:r>
              <a:rPr lang="en-US" altLang="zh-TW" sz="1600" b="1" i="0" dirty="0">
                <a:solidFill>
                  <a:schemeClr val="bg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177-2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17B1E689-4F95-4835-86DA-CDBEAD0DD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484227"/>
              </p:ext>
            </p:extLst>
          </p:nvPr>
        </p:nvGraphicFramePr>
        <p:xfrm>
          <a:off x="-12180" y="3680679"/>
          <a:ext cx="6157705" cy="27715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6258">
                  <a:extLst>
                    <a:ext uri="{9D8B030D-6E8A-4147-A177-3AD203B41FA5}">
                      <a16:colId xmlns:a16="http://schemas.microsoft.com/office/drawing/2014/main" val="54986103"/>
                    </a:ext>
                  </a:extLst>
                </a:gridCol>
                <a:gridCol w="4751447">
                  <a:extLst>
                    <a:ext uri="{9D8B030D-6E8A-4147-A177-3AD203B41FA5}">
                      <a16:colId xmlns:a16="http://schemas.microsoft.com/office/drawing/2014/main" val="1455811324"/>
                    </a:ext>
                  </a:extLst>
                </a:gridCol>
              </a:tblGrid>
              <a:tr h="39301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基地面積</a:t>
                      </a:r>
                      <a:endParaRPr lang="zh-TW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solidFill>
                      <a:srgbClr val="00A2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330.91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坪（丁建約</a:t>
                      </a: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315.15+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農牧約</a:t>
                      </a: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15.76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坪）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40627880"/>
                  </a:ext>
                </a:extLst>
              </a:tr>
              <a:tr h="62209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建物面積</a:t>
                      </a:r>
                    </a:p>
                  </a:txBody>
                  <a:tcPr marL="6350" marR="6350" marT="6350" marB="0" anchor="ctr">
                    <a:solidFill>
                      <a:srgbClr val="00A2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約</a:t>
                      </a:r>
                      <a:r>
                        <a:rPr lang="en-US" altLang="zh-TW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250</a:t>
                      </a:r>
                      <a:r>
                        <a:rPr lang="zh-TW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  <a:r>
                        <a:rPr lang="en-US" altLang="zh-TW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合法</a:t>
                      </a:r>
                      <a:r>
                        <a:rPr lang="en-US" altLang="zh-TW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147.65</a:t>
                      </a:r>
                      <a:r>
                        <a:rPr lang="zh-TW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坪，未保存登記約</a:t>
                      </a:r>
                      <a:r>
                        <a:rPr lang="en-US" altLang="zh-TW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102</a:t>
                      </a:r>
                      <a:r>
                        <a:rPr lang="zh-TW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坪</a:t>
                      </a:r>
                      <a:r>
                        <a:rPr lang="en-US" altLang="zh-TW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2554084"/>
                  </a:ext>
                </a:extLst>
              </a:tr>
              <a:tr h="3827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使用分區</a:t>
                      </a:r>
                      <a:endParaRPr lang="zh-TW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solidFill>
                      <a:srgbClr val="00A2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一般農業區</a:t>
                      </a:r>
                      <a:r>
                        <a:rPr lang="en-US" altLang="zh-TW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丁種建築用地；一般農業區</a:t>
                      </a:r>
                      <a:r>
                        <a:rPr lang="en-US" altLang="zh-TW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農牧用地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67643392"/>
                  </a:ext>
                </a:extLst>
              </a:tr>
              <a:tr h="36063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面寬深度</a:t>
                      </a:r>
                    </a:p>
                  </a:txBody>
                  <a:tcPr marL="6350" marR="6350" marT="6350" marB="0" anchor="ctr">
                    <a:solidFill>
                      <a:srgbClr val="00A2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面寬</a:t>
                      </a: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約</a:t>
                      </a: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29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米、深度</a:t>
                      </a: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-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約</a:t>
                      </a: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31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米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3287690"/>
                  </a:ext>
                </a:extLst>
              </a:tr>
              <a:tr h="33768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臨        路</a:t>
                      </a:r>
                    </a:p>
                  </a:txBody>
                  <a:tcPr marL="6350" marR="6350" marT="6350" marB="0" anchor="ctr">
                    <a:solidFill>
                      <a:srgbClr val="00A2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近義大二路約</a:t>
                      </a: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24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米</a:t>
                      </a:r>
                      <a:endParaRPr lang="zh-TW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45925649"/>
                  </a:ext>
                </a:extLst>
              </a:tr>
              <a:tr h="33768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售        價</a:t>
                      </a:r>
                      <a:endParaRPr lang="zh-TW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solidFill>
                      <a:srgbClr val="00A2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32.15</a:t>
                      </a:r>
                      <a:r>
                        <a:rPr lang="zh-TW" altLang="en-US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萬</a:t>
                      </a:r>
                      <a:r>
                        <a:rPr lang="en-US" altLang="zh-TW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坪，總價</a:t>
                      </a:r>
                      <a:r>
                        <a:rPr lang="en-US" altLang="zh-TW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10636</a:t>
                      </a:r>
                      <a:r>
                        <a:rPr lang="zh-TW" altLang="en-US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萬；丁建</a:t>
                      </a:r>
                      <a:r>
                        <a:rPr lang="en-US" altLang="zh-TW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33</a:t>
                      </a:r>
                      <a:r>
                        <a:rPr lang="zh-TW" altLang="en-US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萬</a:t>
                      </a:r>
                      <a:r>
                        <a:rPr lang="en-US" altLang="zh-TW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坪、農地</a:t>
                      </a:r>
                      <a:r>
                        <a:rPr lang="en-US" altLang="zh-TW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15</a:t>
                      </a:r>
                      <a:r>
                        <a:rPr lang="zh-TW" altLang="en-US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萬</a:t>
                      </a:r>
                      <a:r>
                        <a:rPr lang="en-US" altLang="zh-TW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4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坪</a:t>
                      </a:r>
                      <a:endParaRPr lang="zh-TW" altLang="en-US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03372194"/>
                  </a:ext>
                </a:extLst>
              </a:tr>
              <a:tr h="33768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        註</a:t>
                      </a:r>
                    </a:p>
                  </a:txBody>
                  <a:tcPr marL="6350" marR="6350" marT="6350" marB="0" anchor="ctr">
                    <a:solidFill>
                      <a:srgbClr val="00A24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大電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滴水</a:t>
                      </a:r>
                      <a:r>
                        <a:rPr lang="en-US" altLang="zh-TW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米；</a:t>
                      </a:r>
                      <a:r>
                        <a:rPr lang="zh-TW" altLang="en-US" sz="1600" b="1" kern="120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如需自用地主會跟承租方談解約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06471580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44466318-ED10-411B-88FA-78811989C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991"/>
            <a:ext cx="5218981" cy="3181502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B5960C59-B828-4150-9A10-DE2885EA2882}"/>
              </a:ext>
            </a:extLst>
          </p:cNvPr>
          <p:cNvSpPr/>
          <p:nvPr/>
        </p:nvSpPr>
        <p:spPr>
          <a:xfrm>
            <a:off x="0" y="0"/>
            <a:ext cx="2054993" cy="764189"/>
          </a:xfrm>
          <a:prstGeom prst="rect">
            <a:avLst/>
          </a:prstGeom>
          <a:solidFill>
            <a:srgbClr val="00B0F0">
              <a:alpha val="60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基本資料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5445E45-560C-4833-B6D5-A7FF59611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729" y="101274"/>
            <a:ext cx="4419502" cy="625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66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6F9EDB-E976-491B-B085-47567F5BEFB4}"/>
              </a:ext>
            </a:extLst>
          </p:cNvPr>
          <p:cNvSpPr/>
          <p:nvPr/>
        </p:nvSpPr>
        <p:spPr>
          <a:xfrm>
            <a:off x="0" y="0"/>
            <a:ext cx="12207369" cy="685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F35DDC-061C-40E6-A8EB-86A058F3622B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螢幕擷取畫面 的圖片&#10;&#10;自動產生的描述">
            <a:extLst>
              <a:ext uri="{FF2B5EF4-FFF2-40B4-BE49-F238E27FC236}">
                <a16:creationId xmlns:a16="http://schemas.microsoft.com/office/drawing/2014/main" id="{076DFB7F-855F-457D-8E96-8A19540EC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文字方塊 48">
            <a:extLst>
              <a:ext uri="{FF2B5EF4-FFF2-40B4-BE49-F238E27FC236}">
                <a16:creationId xmlns:a16="http://schemas.microsoft.com/office/drawing/2014/main" id="{B8C280D5-6596-44EE-8482-A4DB7D453C55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1" name="文字方塊 48">
            <a:extLst>
              <a:ext uri="{FF2B5EF4-FFF2-40B4-BE49-F238E27FC236}">
                <a16:creationId xmlns:a16="http://schemas.microsoft.com/office/drawing/2014/main" id="{33ED31E3-4F36-42CF-A81B-954121BEF305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9BC92191-FF84-4CCC-A00F-6D594A0F8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" y="6501417"/>
            <a:ext cx="569325" cy="46551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CA503B9-EC07-4957-AF5F-1EAD212B0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567" y="50591"/>
            <a:ext cx="9039222" cy="6387485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B5960C59-B828-4150-9A10-DE2885EA2882}"/>
              </a:ext>
            </a:extLst>
          </p:cNvPr>
          <p:cNvSpPr/>
          <p:nvPr/>
        </p:nvSpPr>
        <p:spPr>
          <a:xfrm>
            <a:off x="0" y="0"/>
            <a:ext cx="2054993" cy="764189"/>
          </a:xfrm>
          <a:prstGeom prst="rect">
            <a:avLst/>
          </a:prstGeom>
          <a:solidFill>
            <a:srgbClr val="00B0F0">
              <a:alpha val="60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測量成果圖</a:t>
            </a:r>
          </a:p>
        </p:txBody>
      </p:sp>
    </p:spTree>
    <p:extLst>
      <p:ext uri="{BB962C8B-B14F-4D97-AF65-F5344CB8AC3E}">
        <p14:creationId xmlns:p14="http://schemas.microsoft.com/office/powerpoint/2010/main" val="83360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A615E4DD-75EC-488D-91E4-C492EBD456A4}"/>
              </a:ext>
            </a:extLst>
          </p:cNvPr>
          <p:cNvSpPr/>
          <p:nvPr/>
        </p:nvSpPr>
        <p:spPr>
          <a:xfrm>
            <a:off x="0" y="0"/>
            <a:ext cx="12207369" cy="685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D00CCFC-965B-45BF-B2D4-D8D3532B3DB1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47" name="文字方塊 48">
            <a:extLst>
              <a:ext uri="{FF2B5EF4-FFF2-40B4-BE49-F238E27FC236}">
                <a16:creationId xmlns:a16="http://schemas.microsoft.com/office/drawing/2014/main" id="{63831F56-9CCF-4FC6-81DE-85723BBED33A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48" name="文字方塊 48">
            <a:extLst>
              <a:ext uri="{FF2B5EF4-FFF2-40B4-BE49-F238E27FC236}">
                <a16:creationId xmlns:a16="http://schemas.microsoft.com/office/drawing/2014/main" id="{6267694F-C53C-4A0E-BF2E-4C423FC9480B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75FEB0C9-3E2F-4751-A2F7-CE37F56FE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" y="6501417"/>
            <a:ext cx="569325" cy="46551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EDB46AEC-441F-46B2-96F6-5FCF95EB9F4A}"/>
              </a:ext>
            </a:extLst>
          </p:cNvPr>
          <p:cNvSpPr/>
          <p:nvPr/>
        </p:nvSpPr>
        <p:spPr>
          <a:xfrm>
            <a:off x="0" y="0"/>
            <a:ext cx="2054993" cy="764189"/>
          </a:xfrm>
          <a:prstGeom prst="rect">
            <a:avLst/>
          </a:prstGeom>
          <a:solidFill>
            <a:srgbClr val="00B0F0">
              <a:alpha val="60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地理位置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406DC8-FE0F-4BBB-9D27-B2DE53754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4174"/>
            <a:ext cx="12192000" cy="5069651"/>
          </a:xfrm>
          <a:prstGeom prst="rect">
            <a:avLst/>
          </a:prstGeom>
        </p:spPr>
      </p:pic>
      <p:sp>
        <p:nvSpPr>
          <p:cNvPr id="22" name="星形: 五角 21">
            <a:extLst>
              <a:ext uri="{FF2B5EF4-FFF2-40B4-BE49-F238E27FC236}">
                <a16:creationId xmlns:a16="http://schemas.microsoft.com/office/drawing/2014/main" id="{ADBDB642-4BBC-4F19-BB7D-B8CB63107CC9}"/>
              </a:ext>
            </a:extLst>
          </p:cNvPr>
          <p:cNvSpPr/>
          <p:nvPr/>
        </p:nvSpPr>
        <p:spPr>
          <a:xfrm>
            <a:off x="11157329" y="3978948"/>
            <a:ext cx="273161" cy="307777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24EAC16-EFFD-40FE-92CF-629B1973F65D}"/>
              </a:ext>
            </a:extLst>
          </p:cNvPr>
          <p:cNvSpPr txBox="1"/>
          <p:nvPr/>
        </p:nvSpPr>
        <p:spPr>
          <a:xfrm>
            <a:off x="11309279" y="3770593"/>
            <a:ext cx="603850" cy="30777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標的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7267DE9E-2577-456A-A647-92BC7A163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706" y="1765783"/>
            <a:ext cx="622271" cy="60239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B291D990-129F-4525-AFBC-4A2C1CFA8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453" y="5172130"/>
            <a:ext cx="602390" cy="602390"/>
          </a:xfrm>
          <a:prstGeom prst="rect">
            <a:avLst/>
          </a:prstGeom>
        </p:spPr>
      </p:pic>
      <p:sp>
        <p:nvSpPr>
          <p:cNvPr id="26" name="橢圓 25">
            <a:extLst>
              <a:ext uri="{FF2B5EF4-FFF2-40B4-BE49-F238E27FC236}">
                <a16:creationId xmlns:a16="http://schemas.microsoft.com/office/drawing/2014/main" id="{D9899894-6870-464A-9490-2F8A019275AF}"/>
              </a:ext>
            </a:extLst>
          </p:cNvPr>
          <p:cNvSpPr/>
          <p:nvPr/>
        </p:nvSpPr>
        <p:spPr>
          <a:xfrm>
            <a:off x="5711949" y="4044020"/>
            <a:ext cx="1240356" cy="684255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仁武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工業區</a:t>
            </a: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CFE91FEA-6311-4AD9-8A44-B5291CA46C6C}"/>
              </a:ext>
            </a:extLst>
          </p:cNvPr>
          <p:cNvSpPr/>
          <p:nvPr/>
        </p:nvSpPr>
        <p:spPr>
          <a:xfrm>
            <a:off x="4324913" y="4044020"/>
            <a:ext cx="1281693" cy="938806"/>
          </a:xfrm>
          <a:prstGeom prst="ellipse">
            <a:avLst/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未來國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八德二路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交流道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爭取中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B98D951E-2DCB-4849-92BD-58171AFE8589}"/>
              </a:ext>
            </a:extLst>
          </p:cNvPr>
          <p:cNvSpPr/>
          <p:nvPr/>
        </p:nvSpPr>
        <p:spPr>
          <a:xfrm>
            <a:off x="5806839" y="958487"/>
            <a:ext cx="1240356" cy="684255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仁大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工業區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286A419C-9F6F-4997-935C-B353DA1102AC}"/>
              </a:ext>
            </a:extLst>
          </p:cNvPr>
          <p:cNvSpPr/>
          <p:nvPr/>
        </p:nvSpPr>
        <p:spPr>
          <a:xfrm>
            <a:off x="8598450" y="4386147"/>
            <a:ext cx="1345722" cy="684255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仁武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產業園區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4DB4CB3-139B-45D8-A876-DE07EAF2B115}"/>
              </a:ext>
            </a:extLst>
          </p:cNvPr>
          <p:cNvSpPr/>
          <p:nvPr/>
        </p:nvSpPr>
        <p:spPr>
          <a:xfrm>
            <a:off x="8006265" y="3339883"/>
            <a:ext cx="1538386" cy="704137"/>
          </a:xfrm>
          <a:prstGeom prst="ellipse">
            <a:avLst/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仁武交流道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AAD58E25-67BD-4FE7-B2D3-23567DD04C40}"/>
              </a:ext>
            </a:extLst>
          </p:cNvPr>
          <p:cNvSpPr/>
          <p:nvPr/>
        </p:nvSpPr>
        <p:spPr>
          <a:xfrm>
            <a:off x="1519461" y="4524717"/>
            <a:ext cx="1115248" cy="458109"/>
          </a:xfrm>
          <a:prstGeom prst="ellipse">
            <a:avLst/>
          </a:prstGeom>
          <a:solidFill>
            <a:srgbClr val="FF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台積電</a:t>
            </a: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D502A240-77F5-4253-9439-5BBDF0BD702B}"/>
              </a:ext>
            </a:extLst>
          </p:cNvPr>
          <p:cNvSpPr/>
          <p:nvPr/>
        </p:nvSpPr>
        <p:spPr>
          <a:xfrm>
            <a:off x="1519461" y="1279370"/>
            <a:ext cx="1476143" cy="787608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楠梓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科技產業園區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F509B6F-2A31-485B-AF68-C775549C36D0}"/>
              </a:ext>
            </a:extLst>
          </p:cNvPr>
          <p:cNvSpPr/>
          <p:nvPr/>
        </p:nvSpPr>
        <p:spPr>
          <a:xfrm>
            <a:off x="1663215" y="3175303"/>
            <a:ext cx="2689177" cy="2467154"/>
          </a:xfrm>
          <a:prstGeom prst="ellipse">
            <a:avLst/>
          </a:prstGeom>
          <a:noFill/>
          <a:ln w="698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</a:rPr>
              <a:t>開闢中</a:t>
            </a:r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F8FDEA3F-21BB-444D-A300-AB2A482E349E}"/>
              </a:ext>
            </a:extLst>
          </p:cNvPr>
          <p:cNvSpPr/>
          <p:nvPr/>
        </p:nvSpPr>
        <p:spPr>
          <a:xfrm rot="20149012">
            <a:off x="4215046" y="2945303"/>
            <a:ext cx="195119" cy="68425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E5823A17-E566-4BD5-8FCE-ACFA06E529D8}"/>
              </a:ext>
            </a:extLst>
          </p:cNvPr>
          <p:cNvSpPr txBox="1"/>
          <p:nvPr/>
        </p:nvSpPr>
        <p:spPr>
          <a:xfrm>
            <a:off x="3237385" y="2388851"/>
            <a:ext cx="1515205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未來規劃水管路</a:t>
            </a:r>
            <a:endParaRPr lang="en-US" altLang="zh-TW" sz="1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可直達台積電</a:t>
            </a:r>
          </a:p>
        </p:txBody>
      </p:sp>
    </p:spTree>
    <p:extLst>
      <p:ext uri="{BB962C8B-B14F-4D97-AF65-F5344CB8AC3E}">
        <p14:creationId xmlns:p14="http://schemas.microsoft.com/office/powerpoint/2010/main" val="2218036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A615E4DD-75EC-488D-91E4-C492EBD456A4}"/>
              </a:ext>
            </a:extLst>
          </p:cNvPr>
          <p:cNvSpPr/>
          <p:nvPr/>
        </p:nvSpPr>
        <p:spPr>
          <a:xfrm>
            <a:off x="-15369" y="0"/>
            <a:ext cx="12207369" cy="685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D00CCFC-965B-45BF-B2D4-D8D3532B3DB1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47" name="文字方塊 48">
            <a:extLst>
              <a:ext uri="{FF2B5EF4-FFF2-40B4-BE49-F238E27FC236}">
                <a16:creationId xmlns:a16="http://schemas.microsoft.com/office/drawing/2014/main" id="{63831F56-9CCF-4FC6-81DE-85723BBED33A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48" name="文字方塊 48">
            <a:extLst>
              <a:ext uri="{FF2B5EF4-FFF2-40B4-BE49-F238E27FC236}">
                <a16:creationId xmlns:a16="http://schemas.microsoft.com/office/drawing/2014/main" id="{6267694F-C53C-4A0E-BF2E-4C423FC9480B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75FEB0C9-3E2F-4751-A2F7-CE37F56FE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" y="6501417"/>
            <a:ext cx="569325" cy="46551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EDB46AEC-441F-46B2-96F6-5FCF95EB9F4A}"/>
              </a:ext>
            </a:extLst>
          </p:cNvPr>
          <p:cNvSpPr/>
          <p:nvPr/>
        </p:nvSpPr>
        <p:spPr>
          <a:xfrm>
            <a:off x="0" y="0"/>
            <a:ext cx="2054993" cy="764189"/>
          </a:xfrm>
          <a:prstGeom prst="rect">
            <a:avLst/>
          </a:prstGeom>
          <a:solidFill>
            <a:srgbClr val="00B0F0">
              <a:alpha val="60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地理位置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B5CD428-053B-477C-8E10-FB39CC5C3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962" y="3061624"/>
            <a:ext cx="7850038" cy="3373196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97C47E75-3D38-4C78-B894-ABC2FFB92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64" y="555886"/>
            <a:ext cx="5509520" cy="3839013"/>
          </a:xfrm>
          <a:prstGeom prst="rect">
            <a:avLst/>
          </a:prstGeom>
        </p:spPr>
      </p:pic>
      <p:sp>
        <p:nvSpPr>
          <p:cNvPr id="34" name="橢圓 33">
            <a:extLst>
              <a:ext uri="{FF2B5EF4-FFF2-40B4-BE49-F238E27FC236}">
                <a16:creationId xmlns:a16="http://schemas.microsoft.com/office/drawing/2014/main" id="{C56E6B71-2D0F-4A82-B69F-FAB205DECCC2}"/>
              </a:ext>
            </a:extLst>
          </p:cNvPr>
          <p:cNvSpPr/>
          <p:nvPr/>
        </p:nvSpPr>
        <p:spPr>
          <a:xfrm>
            <a:off x="1231895" y="1265831"/>
            <a:ext cx="3978460" cy="3445993"/>
          </a:xfrm>
          <a:prstGeom prst="ellipse">
            <a:avLst/>
          </a:prstGeom>
          <a:noFill/>
          <a:ln w="698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箭號: 向下 4">
            <a:extLst>
              <a:ext uri="{FF2B5EF4-FFF2-40B4-BE49-F238E27FC236}">
                <a16:creationId xmlns:a16="http://schemas.microsoft.com/office/drawing/2014/main" id="{D0D07EA3-B2F3-45E2-A7A6-4D624D26D516}"/>
              </a:ext>
            </a:extLst>
          </p:cNvPr>
          <p:cNvSpPr/>
          <p:nvPr/>
        </p:nvSpPr>
        <p:spPr>
          <a:xfrm rot="18118533">
            <a:off x="4187568" y="4446122"/>
            <a:ext cx="1164020" cy="11701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584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827834F-C9B9-47C3-A311-F3E5D4E82A57}"/>
              </a:ext>
            </a:extLst>
          </p:cNvPr>
          <p:cNvSpPr/>
          <p:nvPr/>
        </p:nvSpPr>
        <p:spPr>
          <a:xfrm>
            <a:off x="15369" y="0"/>
            <a:ext cx="12207369" cy="666767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9460C1-0062-428A-B398-79DBB667568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0" name="圖片 19" descr="一張含有 螢幕擷取畫面 的圖片&#10;&#10;自動產生的描述">
            <a:extLst>
              <a:ext uri="{FF2B5EF4-FFF2-40B4-BE49-F238E27FC236}">
                <a16:creationId xmlns:a16="http://schemas.microsoft.com/office/drawing/2014/main" id="{EC6251CA-A0B4-4223-9427-5FBE938813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文字方塊 48">
            <a:extLst>
              <a:ext uri="{FF2B5EF4-FFF2-40B4-BE49-F238E27FC236}">
                <a16:creationId xmlns:a16="http://schemas.microsoft.com/office/drawing/2014/main" id="{0ED5D428-9836-4224-98A5-82D19365425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2" name="文字方塊 48">
            <a:extLst>
              <a:ext uri="{FF2B5EF4-FFF2-40B4-BE49-F238E27FC236}">
                <a16:creationId xmlns:a16="http://schemas.microsoft.com/office/drawing/2014/main" id="{AAC40A70-5E93-4512-B7D7-DF6346F984EA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8FD234CB-88F9-4138-B086-2E1050BB3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" y="6501417"/>
            <a:ext cx="569325" cy="46551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877D0B7-07A9-4128-B101-8D1F195EFBC5}"/>
              </a:ext>
            </a:extLst>
          </p:cNvPr>
          <p:cNvSpPr/>
          <p:nvPr/>
        </p:nvSpPr>
        <p:spPr>
          <a:xfrm>
            <a:off x="-11716" y="11031"/>
            <a:ext cx="2054993" cy="764189"/>
          </a:xfrm>
          <a:prstGeom prst="rect">
            <a:avLst/>
          </a:prstGeom>
          <a:solidFill>
            <a:srgbClr val="00B0F0">
              <a:alpha val="60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現況照片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626A91F-391E-4428-BBCF-5A9AA03F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96" y="3712178"/>
            <a:ext cx="3815391" cy="243134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D6A6DE5-544A-408A-B753-599F881BA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491" y="3668663"/>
            <a:ext cx="3577176" cy="247486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9D38F73-0AC2-4014-A547-15A63FEAB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2010" y="3633956"/>
            <a:ext cx="3595236" cy="247486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6AECDBF-08A2-4CF8-872B-BC2020A0DC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491" y="935694"/>
            <a:ext cx="3577176" cy="249330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7BB147D-65A8-4688-A7F1-99D7E50B50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2010" y="935694"/>
            <a:ext cx="3598199" cy="2544373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545F25DD-56FC-4FFC-ACEB-188EED151D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646" y="935695"/>
            <a:ext cx="3791502" cy="251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1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EF4DAEC-2265-4301-AE8E-9E0B12CDA2F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34" name="圖片 33" descr="一張含有 螢幕擷取畫面 的圖片&#10;&#10;自動產生的描述">
            <a:extLst>
              <a:ext uri="{FF2B5EF4-FFF2-40B4-BE49-F238E27FC236}">
                <a16:creationId xmlns:a16="http://schemas.microsoft.com/office/drawing/2014/main" id="{1280F168-5EEF-42F4-93CA-4DD8E950F8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文字方塊 48">
            <a:extLst>
              <a:ext uri="{FF2B5EF4-FFF2-40B4-BE49-F238E27FC236}">
                <a16:creationId xmlns:a16="http://schemas.microsoft.com/office/drawing/2014/main" id="{210ADA7F-1295-4258-B916-87C35BE42527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6" name="文字方塊 48">
            <a:extLst>
              <a:ext uri="{FF2B5EF4-FFF2-40B4-BE49-F238E27FC236}">
                <a16:creationId xmlns:a16="http://schemas.microsoft.com/office/drawing/2014/main" id="{CE4ED7AD-8979-462B-9F13-13B032DF0EF9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88FAB861-DE6D-440D-AEE7-6D58E1BDC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" y="6501417"/>
            <a:ext cx="569325" cy="46551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63F46BF-EBC9-4BFF-B803-C0C3553219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-5858" y="6535"/>
            <a:ext cx="12191999" cy="6494882"/>
          </a:xfrm>
          <a:prstGeom prst="rect">
            <a:avLst/>
          </a:prstGeom>
        </p:spPr>
      </p:pic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3575701D-9A32-4E38-AC30-D1385D099054}"/>
              </a:ext>
            </a:extLst>
          </p:cNvPr>
          <p:cNvSpPr/>
          <p:nvPr/>
        </p:nvSpPr>
        <p:spPr>
          <a:xfrm>
            <a:off x="1" y="0"/>
            <a:ext cx="12191999" cy="6513790"/>
          </a:xfrm>
          <a:prstGeom prst="roundRect">
            <a:avLst>
              <a:gd name="adj" fmla="val 5155"/>
            </a:avLst>
          </a:prstGeom>
          <a:gradFill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522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CFB9ED9-40BF-4373-8C1B-D3376D74D8B7}"/>
              </a:ext>
            </a:extLst>
          </p:cNvPr>
          <p:cNvSpPr txBox="1"/>
          <p:nvPr/>
        </p:nvSpPr>
        <p:spPr>
          <a:xfrm>
            <a:off x="2030292" y="2467437"/>
            <a:ext cx="94428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臨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米義大二路共有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77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坪停車迴轉空地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(15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坪地主自有、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62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坪長租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7F31201-B3E7-4667-B97F-15F73C4B5ED0}"/>
              </a:ext>
            </a:extLst>
          </p:cNvPr>
          <p:cNvSpPr txBox="1"/>
          <p:nvPr/>
        </p:nvSpPr>
        <p:spPr>
          <a:xfrm>
            <a:off x="2037341" y="3446356"/>
            <a:ext cx="42226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水管路貫穿台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線直達台積電</a:t>
            </a:r>
          </a:p>
        </p:txBody>
      </p:sp>
      <p:pic>
        <p:nvPicPr>
          <p:cNvPr id="44" name="圖形 43" descr="豎起大拇指標誌 以實心填滿">
            <a:extLst>
              <a:ext uri="{FF2B5EF4-FFF2-40B4-BE49-F238E27FC236}">
                <a16:creationId xmlns:a16="http://schemas.microsoft.com/office/drawing/2014/main" id="{089AC1F8-834B-482E-B324-1E558CC23A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173" y="2105590"/>
            <a:ext cx="914400" cy="914400"/>
          </a:xfrm>
          <a:prstGeom prst="rect">
            <a:avLst/>
          </a:prstGeom>
        </p:spPr>
      </p:pic>
      <p:pic>
        <p:nvPicPr>
          <p:cNvPr id="45" name="圖形 44" descr="豎起大拇指標誌 以實心填滿">
            <a:extLst>
              <a:ext uri="{FF2B5EF4-FFF2-40B4-BE49-F238E27FC236}">
                <a16:creationId xmlns:a16="http://schemas.microsoft.com/office/drawing/2014/main" id="{611AC88E-D912-47F7-9A62-D39F54FDB8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8172" y="3141491"/>
            <a:ext cx="914400" cy="914400"/>
          </a:xfrm>
          <a:prstGeom prst="rect">
            <a:avLst/>
          </a:prstGeom>
        </p:spPr>
      </p:pic>
      <p:pic>
        <p:nvPicPr>
          <p:cNvPr id="50" name="圖形 49" descr="豎起大拇指標誌 以實心填滿">
            <a:extLst>
              <a:ext uri="{FF2B5EF4-FFF2-40B4-BE49-F238E27FC236}">
                <a16:creationId xmlns:a16="http://schemas.microsoft.com/office/drawing/2014/main" id="{5C6BE4A3-C927-4748-B5C7-709D0260D4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2305" y="1069590"/>
            <a:ext cx="914400" cy="914400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63694631-67BC-4CD2-92F8-C1B4FF043805}"/>
              </a:ext>
            </a:extLst>
          </p:cNvPr>
          <p:cNvSpPr/>
          <p:nvPr/>
        </p:nvSpPr>
        <p:spPr>
          <a:xfrm>
            <a:off x="-11716" y="11031"/>
            <a:ext cx="2054993" cy="764189"/>
          </a:xfrm>
          <a:prstGeom prst="rect">
            <a:avLst/>
          </a:prstGeom>
          <a:solidFill>
            <a:srgbClr val="00B0F0">
              <a:alpha val="60000"/>
            </a:srgb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亮點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70FAA25-329E-44A4-8D86-9A0AF0F8D95B}"/>
              </a:ext>
            </a:extLst>
          </p:cNvPr>
          <p:cNvSpPr txBox="1"/>
          <p:nvPr/>
        </p:nvSpPr>
        <p:spPr>
          <a:xfrm>
            <a:off x="2051725" y="4418259"/>
            <a:ext cx="65614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近仁武產業園區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國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仁武交流道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、產業密集</a:t>
            </a:r>
          </a:p>
        </p:txBody>
      </p:sp>
      <p:pic>
        <p:nvPicPr>
          <p:cNvPr id="17" name="圖形 16" descr="豎起大拇指標誌 以實心填滿">
            <a:extLst>
              <a:ext uri="{FF2B5EF4-FFF2-40B4-BE49-F238E27FC236}">
                <a16:creationId xmlns:a16="http://schemas.microsoft.com/office/drawing/2014/main" id="{CD7276DA-D6AF-41B2-AE50-D1C394BC4C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2556" y="4113394"/>
            <a:ext cx="914400" cy="91440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2FAF0686-D5D8-42C0-B526-2F765C37381F}"/>
              </a:ext>
            </a:extLst>
          </p:cNvPr>
          <p:cNvSpPr txBox="1"/>
          <p:nvPr/>
        </p:nvSpPr>
        <p:spPr>
          <a:xfrm>
            <a:off x="2051725" y="1325010"/>
            <a:ext cx="710090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台積電效應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年後土地價值，後市可期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EC58AE4-0D9D-45E0-A914-75BE4DEC4801}"/>
              </a:ext>
            </a:extLst>
          </p:cNvPr>
          <p:cNvSpPr txBox="1"/>
          <p:nvPr/>
        </p:nvSpPr>
        <p:spPr>
          <a:xfrm>
            <a:off x="2083347" y="5421560"/>
            <a:ext cx="710090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年租約、每月</a:t>
            </a:r>
            <a:r>
              <a:rPr lang="en-US" altLang="zh-TW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2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</a:p>
        </p:txBody>
      </p:sp>
      <p:pic>
        <p:nvPicPr>
          <p:cNvPr id="25" name="圖形 24" descr="豎起大拇指標誌 以實心填滿">
            <a:extLst>
              <a:ext uri="{FF2B5EF4-FFF2-40B4-BE49-F238E27FC236}">
                <a16:creationId xmlns:a16="http://schemas.microsoft.com/office/drawing/2014/main" id="{6527C56E-57F2-4754-A26E-F0DAD418A5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8055" y="50740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5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3658</TotalTime>
  <Words>431</Words>
  <Application>Microsoft Office PowerPoint</Application>
  <PresentationFormat>寬螢幕</PresentationFormat>
  <Paragraphs>64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偉忠 張</cp:lastModifiedBy>
  <cp:revision>279</cp:revision>
  <cp:lastPrinted>2026-05-18T03:22:48Z</cp:lastPrinted>
  <dcterms:created xsi:type="dcterms:W3CDTF">2021-08-28T02:07:24Z</dcterms:created>
  <dcterms:modified xsi:type="dcterms:W3CDTF">2026-05-18T03:23:11Z</dcterms:modified>
</cp:coreProperties>
</file>