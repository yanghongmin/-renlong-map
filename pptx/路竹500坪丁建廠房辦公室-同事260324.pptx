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345" r:id="rId2"/>
    <p:sldId id="278" r:id="rId3"/>
    <p:sldId id="352" r:id="rId4"/>
    <p:sldId id="353" r:id="rId5"/>
    <p:sldId id="331" r:id="rId6"/>
    <p:sldId id="348" r:id="rId7"/>
    <p:sldId id="346" r:id="rId8"/>
    <p:sldId id="341" r:id="rId9"/>
    <p:sldId id="349" r:id="rId10"/>
    <p:sldId id="337" r:id="rId11"/>
    <p:sldId id="269" r:id="rId1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356D"/>
    <a:srgbClr val="1C4E6E"/>
    <a:srgbClr val="A2B7CE"/>
    <a:srgbClr val="325C82"/>
    <a:srgbClr val="7A0000"/>
    <a:srgbClr val="FFFF00"/>
    <a:srgbClr val="ECECEC"/>
    <a:srgbClr val="789CA4"/>
    <a:srgbClr val="4E668E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982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1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53081E-070E-498F-8628-71D75274AD45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DA6654-567E-490D-AB72-999ED83BC83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672234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F96D7FE-78BB-3972-C513-42D32C234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="" xmlns:a16="http://schemas.microsoft.com/office/drawing/2014/main" id="{BF058951-7027-6453-F4CF-48A58DA7A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="" xmlns:a16="http://schemas.microsoft.com/office/drawing/2014/main" id="{A7AD432C-2DCF-C17A-377D-3B78CC7256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="" xmlns:a16="http://schemas.microsoft.com/office/drawing/2014/main" id="{5AF40A80-0C36-BC32-7874-D35DA661AE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DA6654-567E-490D-AB72-999ED83BC833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47925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EA06788E-E2AD-40FE-BFC5-0D96277600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="" xmlns:a16="http://schemas.microsoft.com/office/drawing/2014/main" id="{7314A8EC-4FBE-478E-B9E6-C19FF847DB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="" xmlns:a16="http://schemas.microsoft.com/office/drawing/2014/main" id="{FD7F6662-4132-46A8-9457-77149077D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66F85-D4B6-4F6E-B269-52359023089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="" xmlns:a16="http://schemas.microsoft.com/office/drawing/2014/main" id="{1F6ED7AA-1033-4187-9EE7-196C62E38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="" xmlns:a16="http://schemas.microsoft.com/office/drawing/2014/main" id="{F00417ED-E3CA-4356-AB73-85A1B985F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E4F2C-B20E-4AEF-A032-6610216F5B3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1927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CBCE6667-DFC5-43B1-8ED2-D4415D9B0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="" xmlns:a16="http://schemas.microsoft.com/office/drawing/2014/main" id="{F3B9267B-6982-48AC-9F1B-FD1E26C82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="" xmlns:a16="http://schemas.microsoft.com/office/drawing/2014/main" id="{D53A6B64-A209-48F1-AB5C-8FAAB29D0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66F85-D4B6-4F6E-B269-52359023089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="" xmlns:a16="http://schemas.microsoft.com/office/drawing/2014/main" id="{C44B2252-4AA0-4D49-998F-B96EE70A6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="" xmlns:a16="http://schemas.microsoft.com/office/drawing/2014/main" id="{78D42441-402F-4CF7-A36A-7AD2D40BC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E4F2C-B20E-4AEF-A032-6610216F5B3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1477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D09DD378-C8A9-4C36-B29D-1DD6012DE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="" xmlns:a16="http://schemas.microsoft.com/office/drawing/2014/main" id="{16C95BAC-B2ED-4A73-9C9C-78F324315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="" xmlns:a16="http://schemas.microsoft.com/office/drawing/2014/main" id="{7E049F2A-2EB8-4758-8DE8-BFE46654A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66F85-D4B6-4F6E-B269-52359023089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="" xmlns:a16="http://schemas.microsoft.com/office/drawing/2014/main" id="{A1287DD4-F63F-4FBE-AF8F-BF3C1F9AC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="" xmlns:a16="http://schemas.microsoft.com/office/drawing/2014/main" id="{6DF11674-2C41-4574-BCBA-862905A7E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E4F2C-B20E-4AEF-A032-6610216F5B3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2077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EBCC2417-58CC-4FC5-B021-F262F3D77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="" xmlns:a16="http://schemas.microsoft.com/office/drawing/2014/main" id="{069FDA4B-67C9-48E2-9BC4-F441B2EA0B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="" xmlns:a16="http://schemas.microsoft.com/office/drawing/2014/main" id="{83BE84DF-1AC0-44C9-9CA7-9425B22115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="" xmlns:a16="http://schemas.microsoft.com/office/drawing/2014/main" id="{EA6368A7-40A7-41D8-A460-A93C056A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66F85-D4B6-4F6E-B269-52359023089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="" xmlns:a16="http://schemas.microsoft.com/office/drawing/2014/main" id="{AED32FB3-2DC9-43E3-A0DC-9937B07F5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="" xmlns:a16="http://schemas.microsoft.com/office/drawing/2014/main" id="{DC94F6D3-905E-42DD-ABB5-E22A3497F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E4F2C-B20E-4AEF-A032-6610216F5B3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58743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4CB7A204-B9B3-4D09-9F19-809DBFF85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="" xmlns:a16="http://schemas.microsoft.com/office/drawing/2014/main" id="{987E5C08-5AC9-4754-B7C2-1BCB0F2CC8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="" xmlns:a16="http://schemas.microsoft.com/office/drawing/2014/main" id="{EC47FB47-09E4-41D0-932F-F1B6C3C1BC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="" xmlns:a16="http://schemas.microsoft.com/office/drawing/2014/main" id="{09285C0D-31AC-458D-AE92-F62287FE28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="" xmlns:a16="http://schemas.microsoft.com/office/drawing/2014/main" id="{7E6F7391-17CE-44F1-9237-07D1E426C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="" xmlns:a16="http://schemas.microsoft.com/office/drawing/2014/main" id="{15D10CC5-4117-4704-82A5-7B8262581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66F85-D4B6-4F6E-B269-52359023089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="" xmlns:a16="http://schemas.microsoft.com/office/drawing/2014/main" id="{95150EA1-2401-4A32-B8E2-7295C019B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="" xmlns:a16="http://schemas.microsoft.com/office/drawing/2014/main" id="{E87E43CE-E5DE-4792-8142-3E101E604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E4F2C-B20E-4AEF-A032-6610216F5B3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1277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8A24D4A1-12AE-49EE-B271-6798A5D8A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="" xmlns:a16="http://schemas.microsoft.com/office/drawing/2014/main" id="{8DE03102-3E3D-4B47-A5E7-AC107814F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66F85-D4B6-4F6E-B269-52359023089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="" xmlns:a16="http://schemas.microsoft.com/office/drawing/2014/main" id="{88D65731-9DDD-4A10-BDD1-90E182593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="" xmlns:a16="http://schemas.microsoft.com/office/drawing/2014/main" id="{F4614AD3-225A-4B8D-91C3-E954B680A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E4F2C-B20E-4AEF-A032-6610216F5B3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2381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="" xmlns:a16="http://schemas.microsoft.com/office/drawing/2014/main" id="{1F6D0E31-959D-4DA0-AB02-160FA2DE6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66F85-D4B6-4F6E-B269-52359023089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="" xmlns:a16="http://schemas.microsoft.com/office/drawing/2014/main" id="{B56719BA-47FF-4D35-A889-BED37D99B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="" xmlns:a16="http://schemas.microsoft.com/office/drawing/2014/main" id="{F25F7402-F7E6-437C-B05F-21B757031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E4F2C-B20E-4AEF-A032-6610216F5B3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6903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DD04C93F-A92D-43FE-9453-E8EBB7C2A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="" xmlns:a16="http://schemas.microsoft.com/office/drawing/2014/main" id="{C5B9A95B-3009-4AD6-AD3F-F89B578D4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="" xmlns:a16="http://schemas.microsoft.com/office/drawing/2014/main" id="{CBAB4C1C-C2EC-4601-8298-ECECB8A4F0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="" xmlns:a16="http://schemas.microsoft.com/office/drawing/2014/main" id="{EC8F8876-2AC0-4160-9D06-5A0833009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66F85-D4B6-4F6E-B269-52359023089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="" xmlns:a16="http://schemas.microsoft.com/office/drawing/2014/main" id="{BB3A1188-3907-4640-AB7A-4E5497300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="" xmlns:a16="http://schemas.microsoft.com/office/drawing/2014/main" id="{D731A29B-C8B1-4731-9D38-04BA36C56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E4F2C-B20E-4AEF-A032-6610216F5B3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36568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9D8E586F-971A-4446-A514-6D4F8A8A9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="" xmlns:a16="http://schemas.microsoft.com/office/drawing/2014/main" id="{467F0BBB-D5D6-49A4-89D4-30698B028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="" xmlns:a16="http://schemas.microsoft.com/office/drawing/2014/main" id="{C1CFAE99-05F0-49FD-AC72-2076A3D75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="" xmlns:a16="http://schemas.microsoft.com/office/drawing/2014/main" id="{876DD3D5-3508-45F6-9267-D03C865E8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66F85-D4B6-4F6E-B269-52359023089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="" xmlns:a16="http://schemas.microsoft.com/office/drawing/2014/main" id="{5070F096-E800-4631-BFCC-69C85556A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="" xmlns:a16="http://schemas.microsoft.com/office/drawing/2014/main" id="{A139ADBF-A267-45E0-BA14-CEE7039A8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E4F2C-B20E-4AEF-A032-6610216F5B3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5550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CC0E270A-F8E9-4D8E-8CC8-485746931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="" xmlns:a16="http://schemas.microsoft.com/office/drawing/2014/main" id="{42786DAA-F4E9-4E09-ABD8-503125C900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="" xmlns:a16="http://schemas.microsoft.com/office/drawing/2014/main" id="{2D930624-3BD1-4EC0-8C37-EE587B10C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66F85-D4B6-4F6E-B269-52359023089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="" xmlns:a16="http://schemas.microsoft.com/office/drawing/2014/main" id="{FCF9712E-EBED-4C30-B61A-9B816C8F8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="" xmlns:a16="http://schemas.microsoft.com/office/drawing/2014/main" id="{C73C6F30-792E-4909-8021-E4E89E993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E4F2C-B20E-4AEF-A032-6610216F5B3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87722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="" xmlns:a16="http://schemas.microsoft.com/office/drawing/2014/main" id="{7E92353B-66FB-4933-9A2A-CE5B88CD69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="" xmlns:a16="http://schemas.microsoft.com/office/drawing/2014/main" id="{B5C1118D-FAAB-4C2D-B093-2810E2C400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="" xmlns:a16="http://schemas.microsoft.com/office/drawing/2014/main" id="{C867C014-FA16-44B8-92EC-B55FE44D9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66F85-D4B6-4F6E-B269-52359023089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="" xmlns:a16="http://schemas.microsoft.com/office/drawing/2014/main" id="{559FFF3E-4495-44DD-94EF-1435240F2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="" xmlns:a16="http://schemas.microsoft.com/office/drawing/2014/main" id="{6C56A6F4-D0EA-44F1-BF51-F514657BC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E4F2C-B20E-4AEF-A032-6610216F5B3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95527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="" xmlns:a16="http://schemas.microsoft.com/office/drawing/2014/main" id="{9072353D-A271-4901-AE1D-A3DCEF1DA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="" xmlns:a16="http://schemas.microsoft.com/office/drawing/2014/main" id="{1101FA21-3543-4751-9C82-8865389FEC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="" xmlns:a16="http://schemas.microsoft.com/office/drawing/2014/main" id="{FA28AB9A-AC7C-4B9E-9AA6-D8458655E6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C66F85-D4B6-4F6E-B269-52359023089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="" xmlns:a16="http://schemas.microsoft.com/office/drawing/2014/main" id="{6CDF824E-16F0-4BE1-8BCB-71B2359B26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="" xmlns:a16="http://schemas.microsoft.com/office/drawing/2014/main" id="{3A79DF8D-34C9-4340-A197-6B00CD1D6A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9E4F2C-B20E-4AEF-A032-6610216F5B3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6895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9.jpeg"/><Relationship Id="rId7" Type="http://schemas.openxmlformats.org/officeDocument/2006/relationships/image" Target="../media/image16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g"/><Relationship Id="rId5" Type="http://schemas.openxmlformats.org/officeDocument/2006/relationships/image" Target="../media/image14.png"/><Relationship Id="rId10" Type="http://schemas.openxmlformats.org/officeDocument/2006/relationships/image" Target="../media/image19.jpg"/><Relationship Id="rId4" Type="http://schemas.openxmlformats.org/officeDocument/2006/relationships/image" Target="../media/image4.png"/><Relationship Id="rId9" Type="http://schemas.openxmlformats.org/officeDocument/2006/relationships/image" Target="../media/image18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A98E25F-9E0A-CBBB-21BF-7605C08FF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 descr="一張含有 文字, 字型, 圖形, 平面設計 的圖片&#10;&#10;AI 產生的內容可能不正確。">
            <a:extLst>
              <a:ext uri="{FF2B5EF4-FFF2-40B4-BE49-F238E27FC236}">
                <a16:creationId xmlns="" xmlns:a16="http://schemas.microsoft.com/office/drawing/2014/main" id="{342F7769-13E8-FB1E-883F-835CB748D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51" y="1212244"/>
            <a:ext cx="1526069" cy="279978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="" xmlns:a16="http://schemas.microsoft.com/office/drawing/2014/main" id="{C1BF16A7-9D49-0CD9-A8F8-3C48630D08EE}"/>
              </a:ext>
            </a:extLst>
          </p:cNvPr>
          <p:cNvSpPr txBox="1"/>
          <p:nvPr/>
        </p:nvSpPr>
        <p:spPr>
          <a:xfrm>
            <a:off x="437821" y="2325857"/>
            <a:ext cx="2460955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zh-TW" altLang="en-US" sz="3800" b="1" dirty="0">
                <a:solidFill>
                  <a:srgbClr val="1C4E6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路竹</a:t>
            </a:r>
            <a:r>
              <a:rPr lang="zh-TW" altLang="en-US" sz="3800" b="1" dirty="0" smtClean="0">
                <a:solidFill>
                  <a:srgbClr val="1C4E6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區 </a:t>
            </a:r>
            <a:endParaRPr lang="en-US" altLang="zh-TW" sz="3800" b="1" dirty="0">
              <a:solidFill>
                <a:srgbClr val="1C4E6E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="" xmlns:a16="http://schemas.microsoft.com/office/drawing/2014/main" id="{DA65B76E-D22C-FA82-3374-4D500ADD6CBA}"/>
              </a:ext>
            </a:extLst>
          </p:cNvPr>
          <p:cNvSpPr txBox="1"/>
          <p:nvPr/>
        </p:nvSpPr>
        <p:spPr>
          <a:xfrm>
            <a:off x="2258695" y="2333769"/>
            <a:ext cx="3655407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zh-TW" altLang="en-US" sz="3800" b="1" dirty="0" smtClean="0">
                <a:solidFill>
                  <a:srgbClr val="1C4E6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環球路</a:t>
            </a:r>
            <a:endParaRPr lang="en-US" altLang="zh-TW" sz="3800" b="1" dirty="0">
              <a:solidFill>
                <a:srgbClr val="1C4E6E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="" xmlns:a16="http://schemas.microsoft.com/office/drawing/2014/main" id="{82E9F361-BEF9-9412-7F65-323389E1B93E}"/>
              </a:ext>
            </a:extLst>
          </p:cNvPr>
          <p:cNvSpPr txBox="1"/>
          <p:nvPr/>
        </p:nvSpPr>
        <p:spPr>
          <a:xfrm>
            <a:off x="437821" y="3114108"/>
            <a:ext cx="531405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zh-TW" sz="30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500</a:t>
            </a:r>
            <a:r>
              <a:rPr lang="zh-TW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坪丁建廠房辨公室</a:t>
            </a:r>
            <a:endParaRPr lang="en-US" altLang="zh-TW" sz="3000" b="1" dirty="0">
              <a:solidFill>
                <a:schemeClr val="tx1">
                  <a:lumMod val="75000"/>
                  <a:lumOff val="2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" name="矩形: 圓角 1">
            <a:extLst>
              <a:ext uri="{FF2B5EF4-FFF2-40B4-BE49-F238E27FC236}">
                <a16:creationId xmlns="" xmlns:a16="http://schemas.microsoft.com/office/drawing/2014/main" id="{3AA01BB5-99EB-A3A6-65E9-9D24EAE14CDD}"/>
              </a:ext>
            </a:extLst>
          </p:cNvPr>
          <p:cNvSpPr/>
          <p:nvPr/>
        </p:nvSpPr>
        <p:spPr>
          <a:xfrm rot="2799015">
            <a:off x="1637339" y="-1336162"/>
            <a:ext cx="2095500" cy="2095500"/>
          </a:xfrm>
          <a:prstGeom prst="roundRect">
            <a:avLst/>
          </a:prstGeom>
          <a:solidFill>
            <a:srgbClr val="002160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863"/>
          </a:p>
        </p:txBody>
      </p:sp>
      <p:sp>
        <p:nvSpPr>
          <p:cNvPr id="12" name="手繪多邊形: 圖案 11">
            <a:extLst>
              <a:ext uri="{FF2B5EF4-FFF2-40B4-BE49-F238E27FC236}">
                <a16:creationId xmlns="" xmlns:a16="http://schemas.microsoft.com/office/drawing/2014/main" id="{D29EE37E-C0E6-D26F-4048-BDBA53B2C1B1}"/>
              </a:ext>
            </a:extLst>
          </p:cNvPr>
          <p:cNvSpPr/>
          <p:nvPr/>
        </p:nvSpPr>
        <p:spPr>
          <a:xfrm>
            <a:off x="548388" y="4386803"/>
            <a:ext cx="1261641" cy="45719"/>
          </a:xfrm>
          <a:custGeom>
            <a:avLst/>
            <a:gdLst>
              <a:gd name="connsiteX0" fmla="*/ 0 w 1944547"/>
              <a:gd name="connsiteY0" fmla="*/ 0 h 0"/>
              <a:gd name="connsiteX1" fmla="*/ 1944547 w 1944547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944547">
                <a:moveTo>
                  <a:pt x="0" y="0"/>
                </a:moveTo>
                <a:lnTo>
                  <a:pt x="1944547" y="0"/>
                </a:lnTo>
              </a:path>
            </a:pathLst>
          </a:custGeom>
          <a:noFill/>
          <a:ln w="76200">
            <a:solidFill>
              <a:srgbClr val="1635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文字方塊 20">
            <a:extLst>
              <a:ext uri="{FF2B5EF4-FFF2-40B4-BE49-F238E27FC236}">
                <a16:creationId xmlns="" xmlns:a16="http://schemas.microsoft.com/office/drawing/2014/main" id="{FC8AA564-139C-F425-260B-2A1ABCF3DD1A}"/>
              </a:ext>
            </a:extLst>
          </p:cNvPr>
          <p:cNvSpPr txBox="1"/>
          <p:nvPr/>
        </p:nvSpPr>
        <p:spPr>
          <a:xfrm>
            <a:off x="437821" y="1507803"/>
            <a:ext cx="24063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dist">
              <a:defRPr/>
            </a:pPr>
            <a:r>
              <a:rPr lang="zh-TW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富住通大型工業地產</a:t>
            </a:r>
            <a:endParaRPr lang="en-US" altLang="zh-TW" b="1" dirty="0">
              <a:solidFill>
                <a:schemeClr val="tx1">
                  <a:lumMod val="75000"/>
                  <a:lumOff val="2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29" t="-747" r="27115"/>
          <a:stretch/>
        </p:blipFill>
        <p:spPr>
          <a:xfrm>
            <a:off x="7221794" y="1150374"/>
            <a:ext cx="4970206" cy="4859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1707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62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126" b="6721"/>
          <a:stretch/>
        </p:blipFill>
        <p:spPr>
          <a:xfrm>
            <a:off x="5894810" y="72847"/>
            <a:ext cx="6322654" cy="6723597"/>
          </a:xfrm>
          <a:prstGeom prst="rect">
            <a:avLst/>
          </a:prstGeom>
        </p:spPr>
      </p:pic>
      <p:pic>
        <p:nvPicPr>
          <p:cNvPr id="17" name="圖片 16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29" t="-747" r="27115" b="12713"/>
          <a:stretch/>
        </p:blipFill>
        <p:spPr>
          <a:xfrm>
            <a:off x="567403" y="1162150"/>
            <a:ext cx="3421198" cy="2923154"/>
          </a:xfrm>
          <a:prstGeom prst="rect">
            <a:avLst/>
          </a:prstGeom>
        </p:spPr>
      </p:pic>
      <p:sp>
        <p:nvSpPr>
          <p:cNvPr id="28" name="文字方塊 27">
            <a:extLst>
              <a:ext uri="{FF2B5EF4-FFF2-40B4-BE49-F238E27FC236}">
                <a16:creationId xmlns="" xmlns:a16="http://schemas.microsoft.com/office/drawing/2014/main" id="{49FCBEC4-3028-EB72-DE2E-3966AA3A0840}"/>
              </a:ext>
            </a:extLst>
          </p:cNvPr>
          <p:cNvSpPr txBox="1"/>
          <p:nvPr/>
        </p:nvSpPr>
        <p:spPr>
          <a:xfrm>
            <a:off x="1511008" y="538374"/>
            <a:ext cx="18937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基本資訊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="" xmlns:a16="http://schemas.microsoft.com/office/drawing/2014/main" id="{6869E5AF-8308-01E6-099D-4138CB2A0765}"/>
              </a:ext>
            </a:extLst>
          </p:cNvPr>
          <p:cNvSpPr/>
          <p:nvPr/>
        </p:nvSpPr>
        <p:spPr>
          <a:xfrm>
            <a:off x="4194280" y="3398952"/>
            <a:ext cx="168647" cy="168647"/>
          </a:xfrm>
          <a:prstGeom prst="roundRect">
            <a:avLst/>
          </a:prstGeom>
          <a:solidFill>
            <a:srgbClr val="002160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863"/>
          </a:p>
        </p:txBody>
      </p:sp>
      <p:sp>
        <p:nvSpPr>
          <p:cNvPr id="9" name="文字方塊 8">
            <a:extLst>
              <a:ext uri="{FF2B5EF4-FFF2-40B4-BE49-F238E27FC236}">
                <a16:creationId xmlns="" xmlns:a16="http://schemas.microsoft.com/office/drawing/2014/main" id="{39206AEC-0470-E174-3055-612F751930CD}"/>
              </a:ext>
            </a:extLst>
          </p:cNvPr>
          <p:cNvSpPr txBox="1"/>
          <p:nvPr/>
        </p:nvSpPr>
        <p:spPr>
          <a:xfrm>
            <a:off x="293551" y="4409571"/>
            <a:ext cx="4912630" cy="2210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000"/>
              </a:spcBef>
              <a:buSzPct val="70000"/>
              <a:buFont typeface="Wingdings" panose="05000000000000000000" pitchFamily="2" charset="2"/>
              <a:buChar char="n"/>
            </a:pPr>
            <a:r>
              <a:rPr lang="zh-TW" altLang="en-US" sz="1600" b="1" dirty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基地面積：</a:t>
            </a:r>
            <a:r>
              <a:rPr lang="zh-TW" altLang="en-US" sz="1600" b="1" dirty="0" smtClean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約</a:t>
            </a:r>
            <a:r>
              <a:rPr lang="en-US" altLang="zh-TW" sz="1600" b="1" dirty="0" smtClean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389.97</a:t>
            </a:r>
            <a:r>
              <a:rPr lang="zh-TW" altLang="en-US" sz="1600" b="1" dirty="0" smtClean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坪</a:t>
            </a:r>
            <a:r>
              <a:rPr lang="zh-TW" altLang="en-US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（依謄本登記為主）</a:t>
            </a: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spcBef>
                <a:spcPts val="1000"/>
              </a:spcBef>
              <a:buSzPct val="70000"/>
              <a:buFont typeface="Wingdings" panose="05000000000000000000" pitchFamily="2" charset="2"/>
              <a:buChar char="n"/>
            </a:pPr>
            <a:r>
              <a:rPr lang="zh-TW" altLang="en-US" sz="1600" b="1" dirty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建物面積：</a:t>
            </a:r>
            <a:r>
              <a:rPr lang="zh-TW" altLang="en-US" sz="1600" b="1" dirty="0" smtClean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約</a:t>
            </a:r>
            <a:r>
              <a:rPr lang="en-US" altLang="zh-TW" sz="1600" b="1" dirty="0" smtClean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518.76</a:t>
            </a:r>
            <a:r>
              <a:rPr lang="zh-TW" altLang="en-US" sz="1600" b="1" dirty="0" smtClean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坪</a:t>
            </a:r>
            <a:r>
              <a:rPr lang="zh-TW" altLang="en-US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（依謄本登記為主）</a:t>
            </a: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spcBef>
                <a:spcPts val="1000"/>
              </a:spcBef>
              <a:buSzPct val="70000"/>
              <a:buFont typeface="Wingdings" panose="05000000000000000000" pitchFamily="2" charset="2"/>
              <a:buChar char="n"/>
            </a:pPr>
            <a:r>
              <a:rPr lang="zh-TW" altLang="en-US" sz="1600" b="1" dirty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使用分區</a:t>
            </a:r>
            <a:r>
              <a:rPr lang="zh-TW" altLang="en-US" sz="1600" b="1" dirty="0" smtClean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：丁種建築</a:t>
            </a:r>
            <a:r>
              <a:rPr lang="zh-TW" altLang="en-US" sz="1600" b="1" dirty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用地</a:t>
            </a:r>
            <a:r>
              <a:rPr lang="zh-TW" altLang="en-US" sz="1600" b="1" dirty="0" smtClean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、甲種</a:t>
            </a:r>
            <a:r>
              <a:rPr lang="zh-TW" altLang="en-US" sz="1600" b="1" dirty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建築用地</a:t>
            </a:r>
            <a:endParaRPr lang="en-US" altLang="zh-TW" sz="1600" b="1" dirty="0">
              <a:solidFill>
                <a:srgbClr val="16356D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spcBef>
                <a:spcPts val="1000"/>
              </a:spcBef>
              <a:buSzPct val="70000"/>
              <a:buFont typeface="Wingdings" panose="05000000000000000000" pitchFamily="2" charset="2"/>
              <a:buChar char="n"/>
            </a:pPr>
            <a:r>
              <a:rPr lang="zh-TW" altLang="en-US" sz="1600" b="1" dirty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售價</a:t>
            </a:r>
            <a:r>
              <a:rPr lang="zh-TW" altLang="en-US" sz="1600" b="1" dirty="0" smtClean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en-US" altLang="zh-TW" sz="16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16,500</a:t>
            </a:r>
            <a:r>
              <a:rPr lang="zh-TW" altLang="en-US" sz="16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萬（約</a:t>
            </a:r>
            <a:r>
              <a:rPr lang="en-US" altLang="zh-TW" sz="16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42.31</a:t>
            </a:r>
            <a:r>
              <a:rPr lang="zh-TW" altLang="en-US" sz="16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萬</a:t>
            </a:r>
            <a:r>
              <a:rPr lang="en-US" altLang="zh-TW" sz="16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16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地坪）</a:t>
            </a:r>
            <a:endParaRPr lang="en-US" altLang="zh-TW" sz="16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spcBef>
                <a:spcPts val="1000"/>
              </a:spcBef>
              <a:buSzPct val="70000"/>
              <a:buFont typeface="Wingdings" panose="05000000000000000000" pitchFamily="2" charset="2"/>
              <a:buChar char="n"/>
            </a:pPr>
            <a:r>
              <a:rPr lang="zh-TW" altLang="en-US" sz="1600" b="1" dirty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備註：丁種建築用地約</a:t>
            </a:r>
            <a:r>
              <a:rPr lang="en-US" altLang="zh-TW" sz="1600" b="1" dirty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372.02</a:t>
            </a:r>
            <a:r>
              <a:rPr lang="zh-TW" altLang="en-US" sz="1600" b="1" dirty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坪</a:t>
            </a:r>
            <a:r>
              <a:rPr lang="zh-TW" altLang="en-US" sz="1600" b="1" dirty="0" smtClean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endParaRPr lang="en-US" altLang="zh-TW" sz="1600" b="1" dirty="0" smtClean="0">
              <a:solidFill>
                <a:srgbClr val="16356D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spcBef>
                <a:spcPts val="1000"/>
              </a:spcBef>
              <a:buSzPct val="70000"/>
            </a:pPr>
            <a:r>
              <a:rPr lang="zh-TW" altLang="en-US" sz="1600" b="1" dirty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600" b="1" dirty="0" smtClean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             甲種</a:t>
            </a:r>
            <a:r>
              <a:rPr lang="zh-TW" altLang="en-US" sz="1600" b="1" dirty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建築用地約</a:t>
            </a:r>
            <a:r>
              <a:rPr lang="en-US" altLang="zh-TW" sz="1600" b="1" dirty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17.95</a:t>
            </a:r>
            <a:r>
              <a:rPr lang="zh-TW" altLang="en-US" sz="1600" b="1" dirty="0" smtClean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坪</a:t>
            </a:r>
            <a:endParaRPr lang="en-US" altLang="zh-TW" sz="1600" b="1" dirty="0" smtClean="0">
              <a:solidFill>
                <a:srgbClr val="16356D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手繪多邊形: 圖案 11">
            <a:extLst>
              <a:ext uri="{FF2B5EF4-FFF2-40B4-BE49-F238E27FC236}">
                <a16:creationId xmlns="" xmlns:a16="http://schemas.microsoft.com/office/drawing/2014/main" id="{640D6574-0C56-1B22-F877-6C0FAB47B90B}"/>
              </a:ext>
            </a:extLst>
          </p:cNvPr>
          <p:cNvSpPr/>
          <p:nvPr/>
        </p:nvSpPr>
        <p:spPr>
          <a:xfrm flipV="1">
            <a:off x="3678638" y="3592110"/>
            <a:ext cx="5203693" cy="45719"/>
          </a:xfrm>
          <a:custGeom>
            <a:avLst/>
            <a:gdLst>
              <a:gd name="connsiteX0" fmla="*/ 0 w 3901440"/>
              <a:gd name="connsiteY0" fmla="*/ 0 h 0"/>
              <a:gd name="connsiteX1" fmla="*/ 3901440 w 390144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3901440">
                <a:moveTo>
                  <a:pt x="0" y="0"/>
                </a:moveTo>
                <a:lnTo>
                  <a:pt x="3901440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: 圓角 15">
            <a:extLst>
              <a:ext uri="{FF2B5EF4-FFF2-40B4-BE49-F238E27FC236}">
                <a16:creationId xmlns="" xmlns:a16="http://schemas.microsoft.com/office/drawing/2014/main" id="{69BCD28D-6172-E88C-ED94-D8E0B19BC55C}"/>
              </a:ext>
            </a:extLst>
          </p:cNvPr>
          <p:cNvSpPr/>
          <p:nvPr/>
        </p:nvSpPr>
        <p:spPr>
          <a:xfrm rot="2799015">
            <a:off x="293861" y="-546437"/>
            <a:ext cx="1420894" cy="1420894"/>
          </a:xfrm>
          <a:prstGeom prst="roundRect">
            <a:avLst/>
          </a:prstGeom>
          <a:solidFill>
            <a:srgbClr val="0021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863"/>
          </a:p>
        </p:txBody>
      </p:sp>
      <p:pic>
        <p:nvPicPr>
          <p:cNvPr id="19" name="圖片 18" descr="一張含有 文字, 字型, 圖形, 平面設計 的圖片&#10;&#10;AI 產生的內容可能不正確。">
            <a:extLst>
              <a:ext uri="{FF2B5EF4-FFF2-40B4-BE49-F238E27FC236}">
                <a16:creationId xmlns="" xmlns:a16="http://schemas.microsoft.com/office/drawing/2014/main" id="{CB2FC99A-6544-8430-0694-6379C18CE6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758" y="82412"/>
            <a:ext cx="903704" cy="165855"/>
          </a:xfrm>
          <a:prstGeom prst="rect">
            <a:avLst/>
          </a:prstGeom>
        </p:spPr>
      </p:pic>
      <p:sp>
        <p:nvSpPr>
          <p:cNvPr id="20" name="文字方塊 19">
            <a:extLst>
              <a:ext uri="{FF2B5EF4-FFF2-40B4-BE49-F238E27FC236}">
                <a16:creationId xmlns="" xmlns:a16="http://schemas.microsoft.com/office/drawing/2014/main" id="{930E9003-B560-4B8D-C37B-6D9D7BDF8293}"/>
              </a:ext>
            </a:extLst>
          </p:cNvPr>
          <p:cNvSpPr txBox="1"/>
          <p:nvPr/>
        </p:nvSpPr>
        <p:spPr>
          <a:xfrm>
            <a:off x="337269" y="282884"/>
            <a:ext cx="133407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dist">
              <a:defRPr/>
            </a:pPr>
            <a:r>
              <a:rPr lang="zh-TW" altLang="en-US" sz="1000" b="1" dirty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富住通大型工業地產</a:t>
            </a:r>
            <a:endParaRPr lang="en-US" altLang="zh-TW" sz="1000" b="1" dirty="0">
              <a:solidFill>
                <a:schemeClr val="bg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="" xmlns:a16="http://schemas.microsoft.com/office/drawing/2014/main" id="{4BD84168-DA34-989E-AA58-AC6E009C50C7}"/>
              </a:ext>
            </a:extLst>
          </p:cNvPr>
          <p:cNvSpPr txBox="1"/>
          <p:nvPr/>
        </p:nvSpPr>
        <p:spPr>
          <a:xfrm>
            <a:off x="4306660" y="3321692"/>
            <a:ext cx="287582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500" b="1" dirty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路竹</a:t>
            </a:r>
            <a:r>
              <a:rPr lang="zh-TW" altLang="en-US" sz="1500" b="1" dirty="0" smtClean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區環球路</a:t>
            </a:r>
            <a:r>
              <a:rPr lang="en-US" altLang="zh-TW" sz="1500" b="1" dirty="0" smtClean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417</a:t>
            </a:r>
            <a:r>
              <a:rPr lang="zh-TW" altLang="en-US" sz="1500" b="1" dirty="0" smtClean="0">
                <a:solidFill>
                  <a:srgbClr val="16356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號</a:t>
            </a:r>
            <a:endParaRPr lang="zh-TW" altLang="en-US" sz="1500" b="1" dirty="0">
              <a:solidFill>
                <a:srgbClr val="16356D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" name="手繪多邊形: 圖案 29">
            <a:extLst>
              <a:ext uri="{FF2B5EF4-FFF2-40B4-BE49-F238E27FC236}">
                <a16:creationId xmlns="" xmlns:a16="http://schemas.microsoft.com/office/drawing/2014/main" id="{93A7FAAA-B15B-F1F0-294D-9A81964D5B6A}"/>
              </a:ext>
            </a:extLst>
          </p:cNvPr>
          <p:cNvSpPr/>
          <p:nvPr/>
        </p:nvSpPr>
        <p:spPr>
          <a:xfrm>
            <a:off x="1343025" y="1035844"/>
            <a:ext cx="1850231" cy="0"/>
          </a:xfrm>
          <a:custGeom>
            <a:avLst/>
            <a:gdLst>
              <a:gd name="connsiteX0" fmla="*/ 0 w 1850231"/>
              <a:gd name="connsiteY0" fmla="*/ 0 h 0"/>
              <a:gd name="connsiteX1" fmla="*/ 1850231 w 1850231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50231">
                <a:moveTo>
                  <a:pt x="0" y="0"/>
                </a:moveTo>
                <a:lnTo>
                  <a:pt x="1850231" y="0"/>
                </a:lnTo>
              </a:path>
            </a:pathLst>
          </a:custGeom>
          <a:noFill/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006276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20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651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3F4B6F8-4F3B-B767-705B-1E8A7289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9312" y="1050367"/>
            <a:ext cx="10053484" cy="5807633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="" xmlns:a16="http://schemas.microsoft.com/office/drawing/2014/main" id="{42913BBD-5022-9966-B693-65894ECD48EB}"/>
              </a:ext>
            </a:extLst>
          </p:cNvPr>
          <p:cNvSpPr txBox="1"/>
          <p:nvPr/>
        </p:nvSpPr>
        <p:spPr>
          <a:xfrm>
            <a:off x="828205" y="2961804"/>
            <a:ext cx="1396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建</a:t>
            </a:r>
            <a:r>
              <a:rPr lang="zh-TW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號</a:t>
            </a:r>
            <a:r>
              <a:rPr lang="en-US" altLang="zh-TW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212</a:t>
            </a:r>
            <a:endParaRPr lang="zh-TW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="" xmlns:a16="http://schemas.microsoft.com/office/drawing/2014/main" id="{F17DD2EB-7810-94C0-3B22-ECAF43C5F140}"/>
              </a:ext>
            </a:extLst>
          </p:cNvPr>
          <p:cNvSpPr txBox="1"/>
          <p:nvPr/>
        </p:nvSpPr>
        <p:spPr>
          <a:xfrm>
            <a:off x="1511008" y="538374"/>
            <a:ext cx="2390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測量成果圖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="" xmlns:a16="http://schemas.microsoft.com/office/drawing/2014/main" id="{73F16807-1D7B-E962-413F-C57340FA5A41}"/>
              </a:ext>
            </a:extLst>
          </p:cNvPr>
          <p:cNvSpPr/>
          <p:nvPr/>
        </p:nvSpPr>
        <p:spPr>
          <a:xfrm rot="2799015">
            <a:off x="293861" y="-546437"/>
            <a:ext cx="1420894" cy="1420894"/>
          </a:xfrm>
          <a:prstGeom prst="roundRect">
            <a:avLst/>
          </a:prstGeom>
          <a:solidFill>
            <a:srgbClr val="0021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863"/>
          </a:p>
        </p:txBody>
      </p:sp>
      <p:pic>
        <p:nvPicPr>
          <p:cNvPr id="5" name="圖片 4" descr="一張含有 文字, 字型, 圖形, 平面設計 的圖片&#10;&#10;AI 產生的內容可能不正確。">
            <a:extLst>
              <a:ext uri="{FF2B5EF4-FFF2-40B4-BE49-F238E27FC236}">
                <a16:creationId xmlns="" xmlns:a16="http://schemas.microsoft.com/office/drawing/2014/main" id="{8EFBBA36-F364-1C92-4D41-364C51DCB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758" y="82412"/>
            <a:ext cx="903704" cy="165855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="" xmlns:a16="http://schemas.microsoft.com/office/drawing/2014/main" id="{74B51E3A-23C5-EF1D-4ECA-158DF1D99A5E}"/>
              </a:ext>
            </a:extLst>
          </p:cNvPr>
          <p:cNvSpPr txBox="1"/>
          <p:nvPr/>
        </p:nvSpPr>
        <p:spPr>
          <a:xfrm>
            <a:off x="337269" y="282884"/>
            <a:ext cx="133407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dist">
              <a:defRPr/>
            </a:pPr>
            <a:r>
              <a:rPr lang="zh-TW" altLang="en-US" sz="1000" b="1" dirty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富住通大型工業地產</a:t>
            </a:r>
            <a:endParaRPr lang="en-US" altLang="zh-TW" sz="1000" b="1" dirty="0">
              <a:solidFill>
                <a:schemeClr val="bg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" name="手繪多邊形: 圖案 6">
            <a:extLst>
              <a:ext uri="{FF2B5EF4-FFF2-40B4-BE49-F238E27FC236}">
                <a16:creationId xmlns="" xmlns:a16="http://schemas.microsoft.com/office/drawing/2014/main" id="{DD005A58-D70F-9B28-CA9C-C413FF007896}"/>
              </a:ext>
            </a:extLst>
          </p:cNvPr>
          <p:cNvSpPr/>
          <p:nvPr/>
        </p:nvSpPr>
        <p:spPr>
          <a:xfrm>
            <a:off x="1343025" y="1035844"/>
            <a:ext cx="1850231" cy="0"/>
          </a:xfrm>
          <a:custGeom>
            <a:avLst/>
            <a:gdLst>
              <a:gd name="connsiteX0" fmla="*/ 0 w 1850231"/>
              <a:gd name="connsiteY0" fmla="*/ 0 h 0"/>
              <a:gd name="connsiteX1" fmla="*/ 1850231 w 1850231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50231">
                <a:moveTo>
                  <a:pt x="0" y="0"/>
                </a:moveTo>
                <a:lnTo>
                  <a:pt x="1850231" y="0"/>
                </a:lnTo>
              </a:path>
            </a:pathLst>
          </a:custGeom>
          <a:noFill/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6138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3F4B6F8-4F3B-B767-705B-1E8A7289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文字方塊 16">
            <a:extLst>
              <a:ext uri="{FF2B5EF4-FFF2-40B4-BE49-F238E27FC236}">
                <a16:creationId xmlns="" xmlns:a16="http://schemas.microsoft.com/office/drawing/2014/main" id="{42913BBD-5022-9966-B693-65894ECD48EB}"/>
              </a:ext>
            </a:extLst>
          </p:cNvPr>
          <p:cNvSpPr txBox="1"/>
          <p:nvPr/>
        </p:nvSpPr>
        <p:spPr>
          <a:xfrm>
            <a:off x="828205" y="2961804"/>
            <a:ext cx="1396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建</a:t>
            </a:r>
            <a:r>
              <a:rPr lang="zh-TW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號</a:t>
            </a:r>
            <a:r>
              <a:rPr lang="en-US" altLang="zh-TW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212</a:t>
            </a:r>
            <a:endParaRPr lang="zh-TW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="" xmlns:a16="http://schemas.microsoft.com/office/drawing/2014/main" id="{F17DD2EB-7810-94C0-3B22-ECAF43C5F140}"/>
              </a:ext>
            </a:extLst>
          </p:cNvPr>
          <p:cNvSpPr txBox="1"/>
          <p:nvPr/>
        </p:nvSpPr>
        <p:spPr>
          <a:xfrm>
            <a:off x="1511008" y="538374"/>
            <a:ext cx="2390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測量成果圖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="" xmlns:a16="http://schemas.microsoft.com/office/drawing/2014/main" id="{73F16807-1D7B-E962-413F-C57340FA5A41}"/>
              </a:ext>
            </a:extLst>
          </p:cNvPr>
          <p:cNvSpPr/>
          <p:nvPr/>
        </p:nvSpPr>
        <p:spPr>
          <a:xfrm rot="2799015">
            <a:off x="293861" y="-546437"/>
            <a:ext cx="1420894" cy="1420894"/>
          </a:xfrm>
          <a:prstGeom prst="roundRect">
            <a:avLst/>
          </a:prstGeom>
          <a:solidFill>
            <a:srgbClr val="0021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863"/>
          </a:p>
        </p:txBody>
      </p:sp>
      <p:pic>
        <p:nvPicPr>
          <p:cNvPr id="5" name="圖片 4" descr="一張含有 文字, 字型, 圖形, 平面設計 的圖片&#10;&#10;AI 產生的內容可能不正確。">
            <a:extLst>
              <a:ext uri="{FF2B5EF4-FFF2-40B4-BE49-F238E27FC236}">
                <a16:creationId xmlns="" xmlns:a16="http://schemas.microsoft.com/office/drawing/2014/main" id="{8EFBBA36-F364-1C92-4D41-364C51DCB2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58" y="82412"/>
            <a:ext cx="903704" cy="165855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="" xmlns:a16="http://schemas.microsoft.com/office/drawing/2014/main" id="{74B51E3A-23C5-EF1D-4ECA-158DF1D99A5E}"/>
              </a:ext>
            </a:extLst>
          </p:cNvPr>
          <p:cNvSpPr txBox="1"/>
          <p:nvPr/>
        </p:nvSpPr>
        <p:spPr>
          <a:xfrm>
            <a:off x="337269" y="282884"/>
            <a:ext cx="133407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dist">
              <a:defRPr/>
            </a:pPr>
            <a:r>
              <a:rPr lang="zh-TW" altLang="en-US" sz="1000" b="1" dirty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富住通大型工業地產</a:t>
            </a:r>
            <a:endParaRPr lang="en-US" altLang="zh-TW" sz="1000" b="1" dirty="0">
              <a:solidFill>
                <a:schemeClr val="bg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" name="手繪多邊形: 圖案 6">
            <a:extLst>
              <a:ext uri="{FF2B5EF4-FFF2-40B4-BE49-F238E27FC236}">
                <a16:creationId xmlns="" xmlns:a16="http://schemas.microsoft.com/office/drawing/2014/main" id="{DD005A58-D70F-9B28-CA9C-C413FF007896}"/>
              </a:ext>
            </a:extLst>
          </p:cNvPr>
          <p:cNvSpPr/>
          <p:nvPr/>
        </p:nvSpPr>
        <p:spPr>
          <a:xfrm>
            <a:off x="1343025" y="1035844"/>
            <a:ext cx="1850231" cy="0"/>
          </a:xfrm>
          <a:custGeom>
            <a:avLst/>
            <a:gdLst>
              <a:gd name="connsiteX0" fmla="*/ 0 w 1850231"/>
              <a:gd name="connsiteY0" fmla="*/ 0 h 0"/>
              <a:gd name="connsiteX1" fmla="*/ 1850231 w 1850231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50231">
                <a:moveTo>
                  <a:pt x="0" y="0"/>
                </a:moveTo>
                <a:lnTo>
                  <a:pt x="1850231" y="0"/>
                </a:lnTo>
              </a:path>
            </a:pathLst>
          </a:custGeom>
          <a:noFill/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8" name="圖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4105" y="1070862"/>
            <a:ext cx="9683052" cy="5787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381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="" xmlns:a16="http://schemas.microsoft.com/office/drawing/2014/main" id="{BBF96EE1-3FB6-4AB6-ABC5-9E13068D52D1}"/>
              </a:ext>
            </a:extLst>
          </p:cNvPr>
          <p:cNvSpPr/>
          <p:nvPr/>
        </p:nvSpPr>
        <p:spPr>
          <a:xfrm>
            <a:off x="0" y="6488667"/>
            <a:ext cx="12192000" cy="369332"/>
          </a:xfrm>
          <a:prstGeom prst="rect">
            <a:avLst/>
          </a:prstGeom>
          <a:solidFill>
            <a:srgbClr val="002160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863"/>
          </a:p>
        </p:txBody>
      </p:sp>
      <p:pic>
        <p:nvPicPr>
          <p:cNvPr id="26" name="圖片 25" descr="一張含有 螢幕擷取畫面 的圖片&#10;&#10;自動產生的描述">
            <a:extLst>
              <a:ext uri="{FF2B5EF4-FFF2-40B4-BE49-F238E27FC236}">
                <a16:creationId xmlns="" xmlns:a16="http://schemas.microsoft.com/office/drawing/2014/main" id="{DE8ADA3E-5E51-4B29-8CDB-62CC4AD163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99" t="4326" r="1701" b="77562"/>
          <a:stretch/>
        </p:blipFill>
        <p:spPr bwMode="auto">
          <a:xfrm>
            <a:off x="288246" y="6545749"/>
            <a:ext cx="180835" cy="2310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" name="文字方塊 48">
            <a:extLst>
              <a:ext uri="{FF2B5EF4-FFF2-40B4-BE49-F238E27FC236}">
                <a16:creationId xmlns="" xmlns:a16="http://schemas.microsoft.com/office/drawing/2014/main" id="{B017FB9F-3B17-436A-8FCF-FBBBB248900F}"/>
              </a:ext>
            </a:extLst>
          </p:cNvPr>
          <p:cNvSpPr txBox="1"/>
          <p:nvPr/>
        </p:nvSpPr>
        <p:spPr>
          <a:xfrm>
            <a:off x="548071" y="6513790"/>
            <a:ext cx="7410596" cy="3077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富住通商用不動產大型工業地產團隊    </a:t>
            </a:r>
            <a:r>
              <a:rPr lang="en-US" altLang="zh-TW" sz="12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FULL  LIFE  COMMERCIAL  REAL  ESTATE  SERVICE</a:t>
            </a:r>
          </a:p>
        </p:txBody>
      </p:sp>
      <p:sp>
        <p:nvSpPr>
          <p:cNvPr id="28" name="文字方塊 48">
            <a:extLst>
              <a:ext uri="{FF2B5EF4-FFF2-40B4-BE49-F238E27FC236}">
                <a16:creationId xmlns="" xmlns:a16="http://schemas.microsoft.com/office/drawing/2014/main" id="{EBA649F6-23C7-4682-91AA-E47A36A33EAC}"/>
              </a:ext>
            </a:extLst>
          </p:cNvPr>
          <p:cNvSpPr txBox="1"/>
          <p:nvPr/>
        </p:nvSpPr>
        <p:spPr>
          <a:xfrm>
            <a:off x="8796059" y="6507395"/>
            <a:ext cx="22962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關懷  </a:t>
            </a:r>
            <a:r>
              <a:rPr lang="en-US" altLang="zh-TW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‧  </a:t>
            </a:r>
            <a:r>
              <a:rPr lang="zh-TW" altLang="en-US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文化  </a:t>
            </a:r>
            <a:r>
              <a:rPr lang="en-US" altLang="zh-TW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‧  </a:t>
            </a:r>
            <a:r>
              <a:rPr lang="zh-TW" altLang="en-US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家庭  </a:t>
            </a:r>
            <a:r>
              <a:rPr lang="en-US" altLang="zh-TW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‧  </a:t>
            </a:r>
            <a:r>
              <a:rPr lang="zh-TW" altLang="en-US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國際</a:t>
            </a:r>
            <a:endParaRPr lang="en-US" altLang="zh-TW" sz="1400" b="1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="" xmlns:a16="http://schemas.microsoft.com/office/drawing/2014/main" id="{BC3B453A-FE59-B8E4-9653-2445C1C34E0D}"/>
              </a:ext>
            </a:extLst>
          </p:cNvPr>
          <p:cNvSpPr txBox="1"/>
          <p:nvPr/>
        </p:nvSpPr>
        <p:spPr>
          <a:xfrm>
            <a:off x="1511008" y="538374"/>
            <a:ext cx="29042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使用執照</a:t>
            </a:r>
            <a:r>
              <a:rPr lang="en-US" altLang="zh-TW" sz="2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en-US" altLang="zh-TW" sz="28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74)1/3</a:t>
            </a:r>
            <a:endParaRPr lang="zh-TW" altLang="en-US" sz="2800" b="1" dirty="0">
              <a:solidFill>
                <a:schemeClr val="tx1">
                  <a:lumMod val="95000"/>
                  <a:lumOff val="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="" xmlns:a16="http://schemas.microsoft.com/office/drawing/2014/main" id="{E6F69274-C4ED-1CE3-23F8-E4D52DCB2852}"/>
              </a:ext>
            </a:extLst>
          </p:cNvPr>
          <p:cNvSpPr/>
          <p:nvPr/>
        </p:nvSpPr>
        <p:spPr>
          <a:xfrm rot="2799015">
            <a:off x="293861" y="-546437"/>
            <a:ext cx="1420894" cy="1420894"/>
          </a:xfrm>
          <a:prstGeom prst="roundRect">
            <a:avLst/>
          </a:prstGeom>
          <a:solidFill>
            <a:srgbClr val="0021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863"/>
          </a:p>
        </p:txBody>
      </p:sp>
      <p:pic>
        <p:nvPicPr>
          <p:cNvPr id="5" name="圖片 4" descr="一張含有 文字, 字型, 圖形, 平面設計 的圖片&#10;&#10;AI 產生的內容可能不正確。">
            <a:extLst>
              <a:ext uri="{FF2B5EF4-FFF2-40B4-BE49-F238E27FC236}">
                <a16:creationId xmlns="" xmlns:a16="http://schemas.microsoft.com/office/drawing/2014/main" id="{89B8B485-3387-ABB4-EBC1-9966F170D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758" y="82412"/>
            <a:ext cx="903704" cy="165855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="" xmlns:a16="http://schemas.microsoft.com/office/drawing/2014/main" id="{C2BD8AE4-7876-222D-D989-1F1BF42AA798}"/>
              </a:ext>
            </a:extLst>
          </p:cNvPr>
          <p:cNvSpPr txBox="1"/>
          <p:nvPr/>
        </p:nvSpPr>
        <p:spPr>
          <a:xfrm>
            <a:off x="337269" y="282884"/>
            <a:ext cx="133407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dist">
              <a:defRPr/>
            </a:pPr>
            <a:r>
              <a:rPr lang="zh-TW" altLang="en-US" sz="1000" b="1" dirty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富住通大型工業地產</a:t>
            </a:r>
            <a:endParaRPr lang="en-US" altLang="zh-TW" sz="1000" b="1" dirty="0">
              <a:solidFill>
                <a:schemeClr val="bg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手繪多邊形: 圖案 8">
            <a:extLst>
              <a:ext uri="{FF2B5EF4-FFF2-40B4-BE49-F238E27FC236}">
                <a16:creationId xmlns="" xmlns:a16="http://schemas.microsoft.com/office/drawing/2014/main" id="{1E87D742-C8EF-8455-238E-2A87C8308303}"/>
              </a:ext>
            </a:extLst>
          </p:cNvPr>
          <p:cNvSpPr/>
          <p:nvPr/>
        </p:nvSpPr>
        <p:spPr>
          <a:xfrm>
            <a:off x="1343025" y="1035843"/>
            <a:ext cx="3072221" cy="45719"/>
          </a:xfrm>
          <a:custGeom>
            <a:avLst/>
            <a:gdLst>
              <a:gd name="connsiteX0" fmla="*/ 0 w 1850231"/>
              <a:gd name="connsiteY0" fmla="*/ 0 h 0"/>
              <a:gd name="connsiteX1" fmla="*/ 1850231 w 1850231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50231">
                <a:moveTo>
                  <a:pt x="0" y="0"/>
                </a:moveTo>
                <a:lnTo>
                  <a:pt x="1850231" y="0"/>
                </a:lnTo>
              </a:path>
            </a:pathLst>
          </a:custGeom>
          <a:noFill/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308"/>
          <a:stretch/>
        </p:blipFill>
        <p:spPr>
          <a:xfrm>
            <a:off x="1671347" y="1080322"/>
            <a:ext cx="9219239" cy="536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766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="" xmlns:a16="http://schemas.microsoft.com/office/drawing/2014/main" id="{BBF96EE1-3FB6-4AB6-ABC5-9E13068D52D1}"/>
              </a:ext>
            </a:extLst>
          </p:cNvPr>
          <p:cNvSpPr/>
          <p:nvPr/>
        </p:nvSpPr>
        <p:spPr>
          <a:xfrm>
            <a:off x="0" y="6488667"/>
            <a:ext cx="12192000" cy="369332"/>
          </a:xfrm>
          <a:prstGeom prst="rect">
            <a:avLst/>
          </a:prstGeom>
          <a:solidFill>
            <a:srgbClr val="002160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863"/>
          </a:p>
        </p:txBody>
      </p:sp>
      <p:pic>
        <p:nvPicPr>
          <p:cNvPr id="26" name="圖片 25" descr="一張含有 螢幕擷取畫面 的圖片&#10;&#10;自動產生的描述">
            <a:extLst>
              <a:ext uri="{FF2B5EF4-FFF2-40B4-BE49-F238E27FC236}">
                <a16:creationId xmlns="" xmlns:a16="http://schemas.microsoft.com/office/drawing/2014/main" id="{DE8ADA3E-5E51-4B29-8CDB-62CC4AD163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99" t="4326" r="1701" b="77562"/>
          <a:stretch/>
        </p:blipFill>
        <p:spPr bwMode="auto">
          <a:xfrm>
            <a:off x="288246" y="6545749"/>
            <a:ext cx="180835" cy="2310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" name="文字方塊 48">
            <a:extLst>
              <a:ext uri="{FF2B5EF4-FFF2-40B4-BE49-F238E27FC236}">
                <a16:creationId xmlns="" xmlns:a16="http://schemas.microsoft.com/office/drawing/2014/main" id="{B017FB9F-3B17-436A-8FCF-FBBBB248900F}"/>
              </a:ext>
            </a:extLst>
          </p:cNvPr>
          <p:cNvSpPr txBox="1"/>
          <p:nvPr/>
        </p:nvSpPr>
        <p:spPr>
          <a:xfrm>
            <a:off x="548071" y="6513790"/>
            <a:ext cx="7410596" cy="3077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富住通商用不動產大型工業地產團隊    </a:t>
            </a:r>
            <a:r>
              <a:rPr lang="en-US" altLang="zh-TW" sz="12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FULL  LIFE  COMMERCIAL  REAL  ESTATE  SERVICE</a:t>
            </a:r>
          </a:p>
        </p:txBody>
      </p:sp>
      <p:sp>
        <p:nvSpPr>
          <p:cNvPr id="28" name="文字方塊 48">
            <a:extLst>
              <a:ext uri="{FF2B5EF4-FFF2-40B4-BE49-F238E27FC236}">
                <a16:creationId xmlns="" xmlns:a16="http://schemas.microsoft.com/office/drawing/2014/main" id="{EBA649F6-23C7-4682-91AA-E47A36A33EAC}"/>
              </a:ext>
            </a:extLst>
          </p:cNvPr>
          <p:cNvSpPr txBox="1"/>
          <p:nvPr/>
        </p:nvSpPr>
        <p:spPr>
          <a:xfrm>
            <a:off x="8796059" y="6507395"/>
            <a:ext cx="22962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關懷  </a:t>
            </a:r>
            <a:r>
              <a:rPr lang="en-US" altLang="zh-TW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‧  </a:t>
            </a:r>
            <a:r>
              <a:rPr lang="zh-TW" altLang="en-US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文化  </a:t>
            </a:r>
            <a:r>
              <a:rPr lang="en-US" altLang="zh-TW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‧  </a:t>
            </a:r>
            <a:r>
              <a:rPr lang="zh-TW" altLang="en-US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家庭  </a:t>
            </a:r>
            <a:r>
              <a:rPr lang="en-US" altLang="zh-TW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‧  </a:t>
            </a:r>
            <a:r>
              <a:rPr lang="zh-TW" altLang="en-US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國際</a:t>
            </a:r>
            <a:endParaRPr lang="en-US" altLang="zh-TW" sz="1400" b="1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="" xmlns:a16="http://schemas.microsoft.com/office/drawing/2014/main" id="{BC3B453A-FE59-B8E4-9653-2445C1C34E0D}"/>
              </a:ext>
            </a:extLst>
          </p:cNvPr>
          <p:cNvSpPr txBox="1"/>
          <p:nvPr/>
        </p:nvSpPr>
        <p:spPr>
          <a:xfrm>
            <a:off x="1511007" y="538374"/>
            <a:ext cx="3139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使用執照</a:t>
            </a:r>
            <a:r>
              <a:rPr lang="en-US" altLang="zh-TW" sz="2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en-US" altLang="zh-TW" sz="28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74)2/3</a:t>
            </a:r>
            <a:endParaRPr lang="zh-TW" altLang="en-US" sz="2800" b="1" dirty="0">
              <a:solidFill>
                <a:schemeClr val="tx1">
                  <a:lumMod val="95000"/>
                  <a:lumOff val="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="" xmlns:a16="http://schemas.microsoft.com/office/drawing/2014/main" id="{E6F69274-C4ED-1CE3-23F8-E4D52DCB2852}"/>
              </a:ext>
            </a:extLst>
          </p:cNvPr>
          <p:cNvSpPr/>
          <p:nvPr/>
        </p:nvSpPr>
        <p:spPr>
          <a:xfrm rot="2799015">
            <a:off x="293861" y="-546437"/>
            <a:ext cx="1420894" cy="1420894"/>
          </a:xfrm>
          <a:prstGeom prst="roundRect">
            <a:avLst/>
          </a:prstGeom>
          <a:solidFill>
            <a:srgbClr val="0021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863"/>
          </a:p>
        </p:txBody>
      </p:sp>
      <p:pic>
        <p:nvPicPr>
          <p:cNvPr id="5" name="圖片 4" descr="一張含有 文字, 字型, 圖形, 平面設計 的圖片&#10;&#10;AI 產生的內容可能不正確。">
            <a:extLst>
              <a:ext uri="{FF2B5EF4-FFF2-40B4-BE49-F238E27FC236}">
                <a16:creationId xmlns="" xmlns:a16="http://schemas.microsoft.com/office/drawing/2014/main" id="{89B8B485-3387-ABB4-EBC1-9966F170D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758" y="82412"/>
            <a:ext cx="903704" cy="165855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="" xmlns:a16="http://schemas.microsoft.com/office/drawing/2014/main" id="{C2BD8AE4-7876-222D-D989-1F1BF42AA798}"/>
              </a:ext>
            </a:extLst>
          </p:cNvPr>
          <p:cNvSpPr txBox="1"/>
          <p:nvPr/>
        </p:nvSpPr>
        <p:spPr>
          <a:xfrm>
            <a:off x="337269" y="282884"/>
            <a:ext cx="133407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dist">
              <a:defRPr/>
            </a:pPr>
            <a:r>
              <a:rPr lang="zh-TW" altLang="en-US" sz="1000" b="1" dirty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富住通大型工業地產</a:t>
            </a:r>
            <a:endParaRPr lang="en-US" altLang="zh-TW" sz="1000" b="1" dirty="0">
              <a:solidFill>
                <a:schemeClr val="bg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手繪多邊形: 圖案 8">
            <a:extLst>
              <a:ext uri="{FF2B5EF4-FFF2-40B4-BE49-F238E27FC236}">
                <a16:creationId xmlns="" xmlns:a16="http://schemas.microsoft.com/office/drawing/2014/main" id="{1E87D742-C8EF-8455-238E-2A87C8308303}"/>
              </a:ext>
            </a:extLst>
          </p:cNvPr>
          <p:cNvSpPr/>
          <p:nvPr/>
        </p:nvSpPr>
        <p:spPr>
          <a:xfrm>
            <a:off x="1343025" y="1035843"/>
            <a:ext cx="3211558" cy="45719"/>
          </a:xfrm>
          <a:custGeom>
            <a:avLst/>
            <a:gdLst>
              <a:gd name="connsiteX0" fmla="*/ 0 w 1850231"/>
              <a:gd name="connsiteY0" fmla="*/ 0 h 0"/>
              <a:gd name="connsiteX1" fmla="*/ 1850231 w 1850231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50231">
                <a:moveTo>
                  <a:pt x="0" y="0"/>
                </a:moveTo>
                <a:lnTo>
                  <a:pt x="1850231" y="0"/>
                </a:lnTo>
              </a:path>
            </a:pathLst>
          </a:custGeom>
          <a:noFill/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20"/>
          <a:stretch/>
        </p:blipFill>
        <p:spPr>
          <a:xfrm>
            <a:off x="4818359" y="-1"/>
            <a:ext cx="7246664" cy="6485993"/>
          </a:xfrm>
          <a:prstGeom prst="rect">
            <a:avLst/>
          </a:prstGeom>
        </p:spPr>
      </p:pic>
      <p:sp>
        <p:nvSpPr>
          <p:cNvPr id="7" name="文字方塊 6"/>
          <p:cNvSpPr txBox="1"/>
          <p:nvPr/>
        </p:nvSpPr>
        <p:spPr>
          <a:xfrm>
            <a:off x="1223786" y="304799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樓層概要資料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508511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="" xmlns:a16="http://schemas.microsoft.com/office/drawing/2014/main" id="{BBF96EE1-3FB6-4AB6-ABC5-9E13068D52D1}"/>
              </a:ext>
            </a:extLst>
          </p:cNvPr>
          <p:cNvSpPr/>
          <p:nvPr/>
        </p:nvSpPr>
        <p:spPr>
          <a:xfrm>
            <a:off x="0" y="6488667"/>
            <a:ext cx="12192000" cy="369332"/>
          </a:xfrm>
          <a:prstGeom prst="rect">
            <a:avLst/>
          </a:prstGeom>
          <a:solidFill>
            <a:srgbClr val="002160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863"/>
          </a:p>
        </p:txBody>
      </p:sp>
      <p:pic>
        <p:nvPicPr>
          <p:cNvPr id="26" name="圖片 25" descr="一張含有 螢幕擷取畫面 的圖片&#10;&#10;自動產生的描述">
            <a:extLst>
              <a:ext uri="{FF2B5EF4-FFF2-40B4-BE49-F238E27FC236}">
                <a16:creationId xmlns="" xmlns:a16="http://schemas.microsoft.com/office/drawing/2014/main" id="{DE8ADA3E-5E51-4B29-8CDB-62CC4AD163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99" t="4326" r="1701" b="77562"/>
          <a:stretch/>
        </p:blipFill>
        <p:spPr bwMode="auto">
          <a:xfrm>
            <a:off x="288246" y="6545749"/>
            <a:ext cx="180835" cy="2310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" name="文字方塊 48">
            <a:extLst>
              <a:ext uri="{FF2B5EF4-FFF2-40B4-BE49-F238E27FC236}">
                <a16:creationId xmlns="" xmlns:a16="http://schemas.microsoft.com/office/drawing/2014/main" id="{B017FB9F-3B17-436A-8FCF-FBBBB248900F}"/>
              </a:ext>
            </a:extLst>
          </p:cNvPr>
          <p:cNvSpPr txBox="1"/>
          <p:nvPr/>
        </p:nvSpPr>
        <p:spPr>
          <a:xfrm>
            <a:off x="548071" y="6513790"/>
            <a:ext cx="7410596" cy="3077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富住通商用不動產大型工業地產團隊    </a:t>
            </a:r>
            <a:r>
              <a:rPr lang="en-US" altLang="zh-TW" sz="12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FULL  LIFE  COMMERCIAL  REAL  ESTATE  SERVICE</a:t>
            </a:r>
          </a:p>
        </p:txBody>
      </p:sp>
      <p:sp>
        <p:nvSpPr>
          <p:cNvPr id="28" name="文字方塊 48">
            <a:extLst>
              <a:ext uri="{FF2B5EF4-FFF2-40B4-BE49-F238E27FC236}">
                <a16:creationId xmlns="" xmlns:a16="http://schemas.microsoft.com/office/drawing/2014/main" id="{EBA649F6-23C7-4682-91AA-E47A36A33EAC}"/>
              </a:ext>
            </a:extLst>
          </p:cNvPr>
          <p:cNvSpPr txBox="1"/>
          <p:nvPr/>
        </p:nvSpPr>
        <p:spPr>
          <a:xfrm>
            <a:off x="8796059" y="6507395"/>
            <a:ext cx="22962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關懷  </a:t>
            </a:r>
            <a:r>
              <a:rPr lang="en-US" altLang="zh-TW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‧  </a:t>
            </a:r>
            <a:r>
              <a:rPr lang="zh-TW" altLang="en-US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文化  </a:t>
            </a:r>
            <a:r>
              <a:rPr lang="en-US" altLang="zh-TW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‧  </a:t>
            </a:r>
            <a:r>
              <a:rPr lang="zh-TW" altLang="en-US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家庭  </a:t>
            </a:r>
            <a:r>
              <a:rPr lang="en-US" altLang="zh-TW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‧  </a:t>
            </a:r>
            <a:r>
              <a:rPr lang="zh-TW" altLang="en-US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國際</a:t>
            </a:r>
            <a:endParaRPr lang="en-US" altLang="zh-TW" sz="1400" b="1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="" xmlns:a16="http://schemas.microsoft.com/office/drawing/2014/main" id="{BC3B453A-FE59-B8E4-9653-2445C1C34E0D}"/>
              </a:ext>
            </a:extLst>
          </p:cNvPr>
          <p:cNvSpPr txBox="1"/>
          <p:nvPr/>
        </p:nvSpPr>
        <p:spPr>
          <a:xfrm>
            <a:off x="1511007" y="538374"/>
            <a:ext cx="3139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使用執照</a:t>
            </a:r>
            <a:r>
              <a:rPr lang="en-US" altLang="zh-TW" sz="2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en-US" altLang="zh-TW" sz="28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74)3/3</a:t>
            </a:r>
            <a:endParaRPr lang="zh-TW" altLang="en-US" sz="2800" b="1" dirty="0">
              <a:solidFill>
                <a:schemeClr val="tx1">
                  <a:lumMod val="95000"/>
                  <a:lumOff val="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="" xmlns:a16="http://schemas.microsoft.com/office/drawing/2014/main" id="{E6F69274-C4ED-1CE3-23F8-E4D52DCB2852}"/>
              </a:ext>
            </a:extLst>
          </p:cNvPr>
          <p:cNvSpPr/>
          <p:nvPr/>
        </p:nvSpPr>
        <p:spPr>
          <a:xfrm rot="2799015">
            <a:off x="293861" y="-546437"/>
            <a:ext cx="1420894" cy="1420894"/>
          </a:xfrm>
          <a:prstGeom prst="roundRect">
            <a:avLst/>
          </a:prstGeom>
          <a:solidFill>
            <a:srgbClr val="0021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863"/>
          </a:p>
        </p:txBody>
      </p:sp>
      <p:pic>
        <p:nvPicPr>
          <p:cNvPr id="5" name="圖片 4" descr="一張含有 文字, 字型, 圖形, 平面設計 的圖片&#10;&#10;AI 產生的內容可能不正確。">
            <a:extLst>
              <a:ext uri="{FF2B5EF4-FFF2-40B4-BE49-F238E27FC236}">
                <a16:creationId xmlns="" xmlns:a16="http://schemas.microsoft.com/office/drawing/2014/main" id="{89B8B485-3387-ABB4-EBC1-9966F170D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758" y="82412"/>
            <a:ext cx="903704" cy="165855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="" xmlns:a16="http://schemas.microsoft.com/office/drawing/2014/main" id="{C2BD8AE4-7876-222D-D989-1F1BF42AA798}"/>
              </a:ext>
            </a:extLst>
          </p:cNvPr>
          <p:cNvSpPr txBox="1"/>
          <p:nvPr/>
        </p:nvSpPr>
        <p:spPr>
          <a:xfrm>
            <a:off x="337269" y="282884"/>
            <a:ext cx="133407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dist">
              <a:defRPr/>
            </a:pPr>
            <a:r>
              <a:rPr lang="zh-TW" altLang="en-US" sz="1000" b="1" dirty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富住通大型工業地產</a:t>
            </a:r>
            <a:endParaRPr lang="en-US" altLang="zh-TW" sz="1000" b="1" dirty="0">
              <a:solidFill>
                <a:schemeClr val="bg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手繪多邊形: 圖案 8">
            <a:extLst>
              <a:ext uri="{FF2B5EF4-FFF2-40B4-BE49-F238E27FC236}">
                <a16:creationId xmlns="" xmlns:a16="http://schemas.microsoft.com/office/drawing/2014/main" id="{1E87D742-C8EF-8455-238E-2A87C8308303}"/>
              </a:ext>
            </a:extLst>
          </p:cNvPr>
          <p:cNvSpPr/>
          <p:nvPr/>
        </p:nvSpPr>
        <p:spPr>
          <a:xfrm>
            <a:off x="1343025" y="1035843"/>
            <a:ext cx="3211558" cy="45719"/>
          </a:xfrm>
          <a:custGeom>
            <a:avLst/>
            <a:gdLst>
              <a:gd name="connsiteX0" fmla="*/ 0 w 1850231"/>
              <a:gd name="connsiteY0" fmla="*/ 0 h 0"/>
              <a:gd name="connsiteX1" fmla="*/ 1850231 w 1850231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50231">
                <a:moveTo>
                  <a:pt x="0" y="0"/>
                </a:moveTo>
                <a:lnTo>
                  <a:pt x="1850231" y="0"/>
                </a:lnTo>
              </a:path>
            </a:pathLst>
          </a:custGeom>
          <a:noFill/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3" name="圖片 12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493"/>
          <a:stretch/>
        </p:blipFill>
        <p:spPr>
          <a:xfrm>
            <a:off x="944610" y="2091028"/>
            <a:ext cx="10667806" cy="1388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9716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3C1F82D-7E30-FA66-099D-45E80E07A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345" y="1086718"/>
            <a:ext cx="3432932" cy="2568678"/>
          </a:xfrm>
          <a:prstGeom prst="rect">
            <a:avLst/>
          </a:prstGeom>
        </p:spPr>
      </p:pic>
      <p:sp>
        <p:nvSpPr>
          <p:cNvPr id="26" name="矩形 25">
            <a:extLst>
              <a:ext uri="{FF2B5EF4-FFF2-40B4-BE49-F238E27FC236}">
                <a16:creationId xmlns="" xmlns:a16="http://schemas.microsoft.com/office/drawing/2014/main" id="{5431DB8D-220A-BB93-E6E5-AC615C7B8F2F}"/>
              </a:ext>
            </a:extLst>
          </p:cNvPr>
          <p:cNvSpPr/>
          <p:nvPr/>
        </p:nvSpPr>
        <p:spPr>
          <a:xfrm>
            <a:off x="0" y="6488667"/>
            <a:ext cx="12192000" cy="369332"/>
          </a:xfrm>
          <a:prstGeom prst="rect">
            <a:avLst/>
          </a:prstGeom>
          <a:solidFill>
            <a:srgbClr val="002160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863"/>
          </a:p>
        </p:txBody>
      </p:sp>
      <p:pic>
        <p:nvPicPr>
          <p:cNvPr id="27" name="圖片 26" descr="一張含有 螢幕擷取畫面 的圖片&#10;&#10;自動產生的描述">
            <a:extLst>
              <a:ext uri="{FF2B5EF4-FFF2-40B4-BE49-F238E27FC236}">
                <a16:creationId xmlns="" xmlns:a16="http://schemas.microsoft.com/office/drawing/2014/main" id="{47263338-A016-5D9C-3403-F3AACECAF62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99" t="4326" r="1701" b="77562"/>
          <a:stretch/>
        </p:blipFill>
        <p:spPr bwMode="auto">
          <a:xfrm>
            <a:off x="288246" y="6545749"/>
            <a:ext cx="180835" cy="2310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" name="文字方塊 48">
            <a:extLst>
              <a:ext uri="{FF2B5EF4-FFF2-40B4-BE49-F238E27FC236}">
                <a16:creationId xmlns="" xmlns:a16="http://schemas.microsoft.com/office/drawing/2014/main" id="{4ABA57DF-EF5C-BF3C-6354-A6CC10056ABD}"/>
              </a:ext>
            </a:extLst>
          </p:cNvPr>
          <p:cNvSpPr txBox="1"/>
          <p:nvPr/>
        </p:nvSpPr>
        <p:spPr>
          <a:xfrm>
            <a:off x="548071" y="6513790"/>
            <a:ext cx="7410596" cy="3077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富住通商用不動產大型工業地產團隊    </a:t>
            </a:r>
            <a:r>
              <a:rPr lang="en-US" altLang="zh-TW" sz="12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FULL  LIFE  COMMERCIAL  REAL  ESTATE  SERVICE</a:t>
            </a:r>
          </a:p>
        </p:txBody>
      </p:sp>
      <p:sp>
        <p:nvSpPr>
          <p:cNvPr id="30" name="文字方塊 48">
            <a:extLst>
              <a:ext uri="{FF2B5EF4-FFF2-40B4-BE49-F238E27FC236}">
                <a16:creationId xmlns="" xmlns:a16="http://schemas.microsoft.com/office/drawing/2014/main" id="{3E1FB5F0-4B6F-B939-37B9-A7347393450E}"/>
              </a:ext>
            </a:extLst>
          </p:cNvPr>
          <p:cNvSpPr txBox="1"/>
          <p:nvPr/>
        </p:nvSpPr>
        <p:spPr>
          <a:xfrm>
            <a:off x="8796059" y="6507395"/>
            <a:ext cx="22962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關懷  </a:t>
            </a:r>
            <a:r>
              <a:rPr lang="en-US" altLang="zh-TW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‧  </a:t>
            </a:r>
            <a:r>
              <a:rPr lang="zh-TW" altLang="en-US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文化  </a:t>
            </a:r>
            <a:r>
              <a:rPr lang="en-US" altLang="zh-TW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‧  </a:t>
            </a:r>
            <a:r>
              <a:rPr lang="zh-TW" altLang="en-US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家庭  </a:t>
            </a:r>
            <a:r>
              <a:rPr lang="en-US" altLang="zh-TW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‧  </a:t>
            </a:r>
            <a:r>
              <a:rPr lang="zh-TW" altLang="en-US" sz="1400" b="1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國際</a:t>
            </a:r>
            <a:endParaRPr lang="en-US" altLang="zh-TW" sz="1400" b="1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="" xmlns:a16="http://schemas.microsoft.com/office/drawing/2014/main" id="{E3B5174D-C0D3-273C-6FBB-4B636B221F90}"/>
              </a:ext>
            </a:extLst>
          </p:cNvPr>
          <p:cNvSpPr txBox="1"/>
          <p:nvPr/>
        </p:nvSpPr>
        <p:spPr>
          <a:xfrm>
            <a:off x="1511008" y="538374"/>
            <a:ext cx="18937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現況拍攝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="" xmlns:a16="http://schemas.microsoft.com/office/drawing/2014/main" id="{780FE238-AB96-C3B3-BB9C-08CC66E90A51}"/>
              </a:ext>
            </a:extLst>
          </p:cNvPr>
          <p:cNvSpPr/>
          <p:nvPr/>
        </p:nvSpPr>
        <p:spPr>
          <a:xfrm rot="2799015">
            <a:off x="293861" y="-546437"/>
            <a:ext cx="1420894" cy="1420894"/>
          </a:xfrm>
          <a:prstGeom prst="roundRect">
            <a:avLst/>
          </a:prstGeom>
          <a:solidFill>
            <a:srgbClr val="0021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863"/>
          </a:p>
        </p:txBody>
      </p:sp>
      <p:pic>
        <p:nvPicPr>
          <p:cNvPr id="12" name="圖片 11" descr="一張含有 文字, 字型, 圖形, 平面設計 的圖片&#10;&#10;AI 產生的內容可能不正確。">
            <a:extLst>
              <a:ext uri="{FF2B5EF4-FFF2-40B4-BE49-F238E27FC236}">
                <a16:creationId xmlns="" xmlns:a16="http://schemas.microsoft.com/office/drawing/2014/main" id="{F48EC4EE-0C6A-967E-F7F1-6BB31C3CE7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758" y="82412"/>
            <a:ext cx="903704" cy="165855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="" xmlns:a16="http://schemas.microsoft.com/office/drawing/2014/main" id="{00E7BF68-F266-26B9-7097-CA11C207A2FA}"/>
              </a:ext>
            </a:extLst>
          </p:cNvPr>
          <p:cNvSpPr txBox="1"/>
          <p:nvPr/>
        </p:nvSpPr>
        <p:spPr>
          <a:xfrm>
            <a:off x="337269" y="282884"/>
            <a:ext cx="133407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dist">
              <a:defRPr/>
            </a:pPr>
            <a:r>
              <a:rPr lang="zh-TW" altLang="en-US" sz="1000" b="1" dirty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富住通大型工業地產</a:t>
            </a:r>
            <a:endParaRPr lang="en-US" altLang="zh-TW" sz="1000" b="1" dirty="0">
              <a:solidFill>
                <a:schemeClr val="bg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手繪多邊形: 圖案 13">
            <a:extLst>
              <a:ext uri="{FF2B5EF4-FFF2-40B4-BE49-F238E27FC236}">
                <a16:creationId xmlns="" xmlns:a16="http://schemas.microsoft.com/office/drawing/2014/main" id="{8B4119C7-AD1F-CA62-E888-20758EBF357B}"/>
              </a:ext>
            </a:extLst>
          </p:cNvPr>
          <p:cNvSpPr/>
          <p:nvPr/>
        </p:nvSpPr>
        <p:spPr>
          <a:xfrm>
            <a:off x="1343025" y="1035844"/>
            <a:ext cx="1850231" cy="0"/>
          </a:xfrm>
          <a:custGeom>
            <a:avLst/>
            <a:gdLst>
              <a:gd name="connsiteX0" fmla="*/ 0 w 1850231"/>
              <a:gd name="connsiteY0" fmla="*/ 0 h 0"/>
              <a:gd name="connsiteX1" fmla="*/ 1850231 w 1850231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50231">
                <a:moveTo>
                  <a:pt x="0" y="0"/>
                </a:moveTo>
                <a:lnTo>
                  <a:pt x="1850231" y="0"/>
                </a:lnTo>
              </a:path>
            </a:pathLst>
          </a:custGeom>
          <a:noFill/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xmlns="" id="{2911CF67-F899-447D-AA77-A88D04749E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5666" y="1228653"/>
            <a:ext cx="291910" cy="510967"/>
          </a:xfrm>
          <a:prstGeom prst="rect">
            <a:avLst/>
          </a:prstGeom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345" y="3823475"/>
            <a:ext cx="3447451" cy="2585589"/>
          </a:xfrm>
          <a:prstGeom prst="rect">
            <a:avLst/>
          </a:prstGeom>
        </p:spPr>
      </p:pic>
      <p:pic>
        <p:nvPicPr>
          <p:cNvPr id="16" name="圖片 1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652" y="529105"/>
            <a:ext cx="3776884" cy="2832663"/>
          </a:xfrm>
          <a:prstGeom prst="rect">
            <a:avLst/>
          </a:prstGeom>
        </p:spPr>
      </p:pic>
      <p:pic>
        <p:nvPicPr>
          <p:cNvPr id="9" name="圖片 8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172" y="3613490"/>
            <a:ext cx="3755585" cy="2816689"/>
          </a:xfrm>
          <a:prstGeom prst="rect">
            <a:avLst/>
          </a:prstGeom>
        </p:spPr>
      </p:pic>
      <p:pic>
        <p:nvPicPr>
          <p:cNvPr id="7" name="圖片 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172" y="542532"/>
            <a:ext cx="3760699" cy="2820525"/>
          </a:xfrm>
          <a:prstGeom prst="rect">
            <a:avLst/>
          </a:prstGeom>
        </p:spPr>
      </p:pic>
      <p:pic>
        <p:nvPicPr>
          <p:cNvPr id="18" name="圖片 17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652" y="3597516"/>
            <a:ext cx="3776884" cy="2832663"/>
          </a:xfrm>
          <a:prstGeom prst="rect">
            <a:avLst/>
          </a:prstGeom>
        </p:spPr>
      </p:pic>
      <p:sp>
        <p:nvSpPr>
          <p:cNvPr id="19" name="文字方塊 18"/>
          <p:cNvSpPr txBox="1"/>
          <p:nvPr/>
        </p:nvSpPr>
        <p:spPr>
          <a:xfrm>
            <a:off x="7181534" y="2992436"/>
            <a:ext cx="909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1F</a:t>
            </a:r>
            <a:r>
              <a:rPr lang="zh-TW" altLang="en-US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廠房</a:t>
            </a:r>
            <a:endParaRPr lang="zh-TW" altLang="en-US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文字方塊 24"/>
          <p:cNvSpPr txBox="1"/>
          <p:nvPr/>
        </p:nvSpPr>
        <p:spPr>
          <a:xfrm>
            <a:off x="10918480" y="6109971"/>
            <a:ext cx="1140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1F</a:t>
            </a:r>
            <a:r>
              <a:rPr lang="zh-TW" altLang="en-US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辦公室</a:t>
            </a:r>
            <a:endParaRPr lang="zh-TW" altLang="en-US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文字方塊 28"/>
          <p:cNvSpPr txBox="1"/>
          <p:nvPr/>
        </p:nvSpPr>
        <p:spPr>
          <a:xfrm>
            <a:off x="7181534" y="6106774"/>
            <a:ext cx="909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1F</a:t>
            </a:r>
            <a:r>
              <a:rPr lang="zh-TW" altLang="en-US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廠房</a:t>
            </a:r>
            <a:endParaRPr lang="zh-TW" altLang="en-US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文字方塊 30"/>
          <p:cNvSpPr txBox="1"/>
          <p:nvPr/>
        </p:nvSpPr>
        <p:spPr>
          <a:xfrm>
            <a:off x="11149313" y="3016998"/>
            <a:ext cx="909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r>
              <a:rPr lang="en-US" altLang="zh-TW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</a:t>
            </a:r>
            <a:r>
              <a:rPr lang="zh-TW" altLang="en-US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廠房</a:t>
            </a:r>
            <a:endParaRPr lang="zh-TW" altLang="en-US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154098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29" t="-747" r="27115" b="12713"/>
          <a:stretch/>
        </p:blipFill>
        <p:spPr>
          <a:xfrm>
            <a:off x="787271" y="2607047"/>
            <a:ext cx="3421198" cy="2923154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="" xmlns:a16="http://schemas.microsoft.com/office/drawing/2014/main" id="{9A8F9F0C-CBB3-49C2-AECD-ACFC6980F3FE}"/>
              </a:ext>
            </a:extLst>
          </p:cNvPr>
          <p:cNvSpPr txBox="1"/>
          <p:nvPr/>
        </p:nvSpPr>
        <p:spPr>
          <a:xfrm>
            <a:off x="4785820" y="1894135"/>
            <a:ext cx="6883666" cy="355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3000"/>
              </a:spcBef>
              <a:buFont typeface="Arial" panose="020B0604020202020204" pitchFamily="34" charset="0"/>
              <a:buChar char="•"/>
              <a:defRPr/>
            </a:pPr>
            <a:r>
              <a:rPr lang="zh-TW" altLang="en-US" sz="3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廠辦合一，方便作業。</a:t>
            </a:r>
            <a:endParaRPr lang="en-US" altLang="zh-TW" sz="30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342900" indent="-342900">
              <a:spcBef>
                <a:spcPts val="3000"/>
              </a:spcBef>
              <a:buFont typeface="Arial" panose="020B0604020202020204" pitchFamily="34" charset="0"/>
              <a:buChar char="•"/>
              <a:defRPr/>
            </a:pPr>
            <a:r>
              <a:rPr lang="zh-TW" altLang="en-US" sz="3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格局方正，方便生產線設置。</a:t>
            </a:r>
            <a:endParaRPr lang="en-US" altLang="zh-TW" sz="30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342900" indent="-342900">
              <a:spcBef>
                <a:spcPts val="3000"/>
              </a:spcBef>
              <a:buFont typeface="Arial" panose="020B0604020202020204" pitchFamily="34" charset="0"/>
              <a:buChar char="•"/>
              <a:defRPr/>
            </a:pPr>
            <a:r>
              <a:rPr lang="zh-TW" altLang="en-US" sz="3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鋼骨結構堅實，附</a:t>
            </a:r>
            <a:r>
              <a:rPr lang="en-US" altLang="zh-TW" sz="3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8</a:t>
            </a:r>
            <a:r>
              <a:rPr lang="zh-TW" altLang="en-US" sz="3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台天車方便作業。</a:t>
            </a:r>
            <a:endParaRPr lang="en-US" altLang="zh-TW" sz="3000" b="1" dirty="0" smtClean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342900" indent="-342900">
              <a:spcBef>
                <a:spcPts val="3000"/>
              </a:spcBef>
              <a:buFont typeface="Arial" panose="020B0604020202020204" pitchFamily="34" charset="0"/>
              <a:buChar char="•"/>
              <a:defRPr/>
            </a:pPr>
            <a:r>
              <a:rPr lang="zh-TW" altLang="en-US" sz="3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距離國一交流道約</a:t>
            </a:r>
            <a:r>
              <a:rPr lang="en-US" altLang="zh-TW" sz="3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1.5</a:t>
            </a:r>
            <a:r>
              <a:rPr lang="zh-TW" altLang="en-US" sz="3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公里</a:t>
            </a:r>
            <a:r>
              <a:rPr lang="en-US" altLang="zh-TW" sz="3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(</a:t>
            </a:r>
            <a:r>
              <a:rPr lang="zh-TW" altLang="en-US" sz="3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約</a:t>
            </a:r>
            <a:r>
              <a:rPr lang="en-US" altLang="zh-TW" sz="3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3</a:t>
            </a:r>
            <a:r>
              <a:rPr lang="zh-TW" altLang="en-US" sz="3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分鐘車程</a:t>
            </a:r>
            <a:r>
              <a:rPr lang="en-US" altLang="zh-TW" sz="3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)</a:t>
            </a:r>
            <a:r>
              <a:rPr lang="zh-TW" altLang="en-US" sz="3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，方便南來北往交通運輸。</a:t>
            </a:r>
            <a:endParaRPr lang="en-US" altLang="zh-TW" sz="30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6" name="圖片 5" descr="一張含有 文字, 字型, 圖形, 平面設計 的圖片&#10;&#10;AI 產生的內容可能不正確。">
            <a:extLst>
              <a:ext uri="{FF2B5EF4-FFF2-40B4-BE49-F238E27FC236}">
                <a16:creationId xmlns="" xmlns:a16="http://schemas.microsoft.com/office/drawing/2014/main" id="{02BAA14F-6DC4-6480-3F80-1366EB0CB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51" y="1212244"/>
            <a:ext cx="1526069" cy="279978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="" xmlns:a16="http://schemas.microsoft.com/office/drawing/2014/main" id="{F72C1BD5-48EB-B90E-ECF6-4587A8D641E9}"/>
              </a:ext>
            </a:extLst>
          </p:cNvPr>
          <p:cNvSpPr txBox="1"/>
          <p:nvPr/>
        </p:nvSpPr>
        <p:spPr>
          <a:xfrm>
            <a:off x="640482" y="2003277"/>
            <a:ext cx="2460955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zh-TW" altLang="en-US" sz="3800" b="1" dirty="0">
                <a:solidFill>
                  <a:srgbClr val="1C4E6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投資亮點</a:t>
            </a:r>
            <a:endParaRPr lang="en-US" altLang="zh-TW" sz="3800" b="1" dirty="0">
              <a:solidFill>
                <a:srgbClr val="1C4E6E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="" xmlns:a16="http://schemas.microsoft.com/office/drawing/2014/main" id="{283976E9-D898-FF40-43EC-5D35F8C2F902}"/>
              </a:ext>
            </a:extLst>
          </p:cNvPr>
          <p:cNvSpPr/>
          <p:nvPr/>
        </p:nvSpPr>
        <p:spPr>
          <a:xfrm rot="2799015">
            <a:off x="1637339" y="-1336162"/>
            <a:ext cx="2095500" cy="2095500"/>
          </a:xfrm>
          <a:prstGeom prst="roundRect">
            <a:avLst/>
          </a:prstGeom>
          <a:solidFill>
            <a:srgbClr val="002160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863"/>
          </a:p>
        </p:txBody>
      </p:sp>
      <p:sp>
        <p:nvSpPr>
          <p:cNvPr id="9" name="文字方塊 8">
            <a:extLst>
              <a:ext uri="{FF2B5EF4-FFF2-40B4-BE49-F238E27FC236}">
                <a16:creationId xmlns="" xmlns:a16="http://schemas.microsoft.com/office/drawing/2014/main" id="{95A800D9-BC5D-E489-89E9-960E9F683A5E}"/>
              </a:ext>
            </a:extLst>
          </p:cNvPr>
          <p:cNvSpPr txBox="1"/>
          <p:nvPr/>
        </p:nvSpPr>
        <p:spPr>
          <a:xfrm>
            <a:off x="437821" y="1507803"/>
            <a:ext cx="24063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dist">
              <a:defRPr/>
            </a:pPr>
            <a:r>
              <a:rPr lang="zh-TW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富住通大型工業地產</a:t>
            </a:r>
            <a:endParaRPr lang="en-US" altLang="zh-TW" b="1" dirty="0">
              <a:solidFill>
                <a:schemeClr val="tx1">
                  <a:lumMod val="75000"/>
                  <a:lumOff val="2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手繪多邊形: 圖案 10">
            <a:extLst>
              <a:ext uri="{FF2B5EF4-FFF2-40B4-BE49-F238E27FC236}">
                <a16:creationId xmlns="" xmlns:a16="http://schemas.microsoft.com/office/drawing/2014/main" id="{0EE9D13D-D700-8EC1-88E4-898CC2AF7098}"/>
              </a:ext>
            </a:extLst>
          </p:cNvPr>
          <p:cNvSpPr/>
          <p:nvPr/>
        </p:nvSpPr>
        <p:spPr>
          <a:xfrm flipV="1">
            <a:off x="2954483" y="2307541"/>
            <a:ext cx="1414395" cy="62279"/>
          </a:xfrm>
          <a:custGeom>
            <a:avLst/>
            <a:gdLst>
              <a:gd name="connsiteX0" fmla="*/ 0 w 3901440"/>
              <a:gd name="connsiteY0" fmla="*/ 0 h 0"/>
              <a:gd name="connsiteX1" fmla="*/ 3901440 w 390144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3901440">
                <a:moveTo>
                  <a:pt x="0" y="0"/>
                </a:moveTo>
                <a:lnTo>
                  <a:pt x="3901440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39190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4407</TotalTime>
  <Words>307</Words>
  <Application>Microsoft Office PowerPoint</Application>
  <PresentationFormat>寬螢幕</PresentationFormat>
  <Paragraphs>47</Paragraphs>
  <Slides>11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9" baseType="lpstr">
      <vt:lpstr>Microsoft YaHei</vt:lpstr>
      <vt:lpstr>微軟正黑體</vt:lpstr>
      <vt:lpstr>新細明體</vt:lpstr>
      <vt:lpstr>Arial</vt:lpstr>
      <vt:lpstr>Calibri</vt:lpstr>
      <vt:lpstr>Calibri Light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Mason</dc:creator>
  <cp:lastModifiedBy>ken</cp:lastModifiedBy>
  <cp:revision>274</cp:revision>
  <dcterms:created xsi:type="dcterms:W3CDTF">2021-08-28T02:07:24Z</dcterms:created>
  <dcterms:modified xsi:type="dcterms:W3CDTF">2026-03-24T06:22:00Z</dcterms:modified>
</cp:coreProperties>
</file>